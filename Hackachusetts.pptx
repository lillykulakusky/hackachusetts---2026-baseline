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  <p:embeddedFont>
      <p:font typeface="Inter"/>
      <p:regular r:id="rId59"/>
      <p:bold r:id="rId60"/>
      <p:italic r:id="rId61"/>
      <p:boldItalic r:id="rId62"/>
    </p:embeddedFont>
    <p:embeddedFont>
      <p:font typeface="Helvetica Neue"/>
      <p:regular r:id="rId63"/>
      <p:bold r:id="rId64"/>
      <p:italic r:id="rId65"/>
      <p:boldItalic r:id="rId66"/>
    </p:embeddedFont>
    <p:embeddedFont>
      <p:font typeface="Orbitron"/>
      <p:regular r:id="rId67"/>
      <p:bold r:id="rId68"/>
    </p:embeddedFont>
    <p:embeddedFont>
      <p:font typeface="Comfortaa"/>
      <p:regular r:id="rId69"/>
      <p:bold r:id="rId70"/>
    </p:embeddedFont>
    <p:embeddedFont>
      <p:font typeface="Open Sans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OpenSans-italic.fntdata"/><Relationship Id="rId72" Type="http://schemas.openxmlformats.org/officeDocument/2006/relationships/font" Target="fonts/OpenSans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74" Type="http://schemas.openxmlformats.org/officeDocument/2006/relationships/font" Target="fonts/OpenSans-bold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OpenSans-regular.fntdata"/><Relationship Id="rId70" Type="http://schemas.openxmlformats.org/officeDocument/2006/relationships/font" Target="fonts/Comfortaa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Inter-boldItalic.fntdata"/><Relationship Id="rId61" Type="http://schemas.openxmlformats.org/officeDocument/2006/relationships/font" Target="fonts/Inter-italic.fntdata"/><Relationship Id="rId20" Type="http://schemas.openxmlformats.org/officeDocument/2006/relationships/slide" Target="slides/slide13.xml"/><Relationship Id="rId64" Type="http://schemas.openxmlformats.org/officeDocument/2006/relationships/font" Target="fonts/HelveticaNeue-bold.fntdata"/><Relationship Id="rId63" Type="http://schemas.openxmlformats.org/officeDocument/2006/relationships/font" Target="fonts/HelveticaNeue-regular.fntdata"/><Relationship Id="rId22" Type="http://schemas.openxmlformats.org/officeDocument/2006/relationships/slide" Target="slides/slide15.xml"/><Relationship Id="rId66" Type="http://schemas.openxmlformats.org/officeDocument/2006/relationships/font" Target="fonts/HelveticaNeue-boldItalic.fntdata"/><Relationship Id="rId21" Type="http://schemas.openxmlformats.org/officeDocument/2006/relationships/slide" Target="slides/slide14.xml"/><Relationship Id="rId65" Type="http://schemas.openxmlformats.org/officeDocument/2006/relationships/font" Target="fonts/HelveticaNeue-italic.fntdata"/><Relationship Id="rId24" Type="http://schemas.openxmlformats.org/officeDocument/2006/relationships/slide" Target="slides/slide17.xml"/><Relationship Id="rId68" Type="http://schemas.openxmlformats.org/officeDocument/2006/relationships/font" Target="fonts/Orbitron-bold.fntdata"/><Relationship Id="rId23" Type="http://schemas.openxmlformats.org/officeDocument/2006/relationships/slide" Target="slides/slide16.xml"/><Relationship Id="rId67" Type="http://schemas.openxmlformats.org/officeDocument/2006/relationships/font" Target="fonts/Orbitron-regular.fntdata"/><Relationship Id="rId60" Type="http://schemas.openxmlformats.org/officeDocument/2006/relationships/font" Target="fonts/Inter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Comfortaa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Roboto-regular.fntdata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Roboto-italic.fntdata"/><Relationship Id="rId12" Type="http://schemas.openxmlformats.org/officeDocument/2006/relationships/slide" Target="slides/slide5.xml"/><Relationship Id="rId56" Type="http://schemas.openxmlformats.org/officeDocument/2006/relationships/font" Target="fonts/Roboto-bold.fntdata"/><Relationship Id="rId15" Type="http://schemas.openxmlformats.org/officeDocument/2006/relationships/slide" Target="slides/slide8.xml"/><Relationship Id="rId59" Type="http://schemas.openxmlformats.org/officeDocument/2006/relationships/font" Target="fonts/Inter-regular.fntdata"/><Relationship Id="rId14" Type="http://schemas.openxmlformats.org/officeDocument/2006/relationships/slide" Target="slides/slide7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9b87f89b57a64ac_22_3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h69b87f89b57a64ac_22_3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139" name="Google Shape;139;h69b87f89b57a64ac_22_3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9b87f89b57a64ac_22_4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h69b87f89b57a64ac_22_4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152" name="Google Shape;152;h69b87f89b57a64ac_22_4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5f51e53b6c0f34a4_1_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h5f51e53b6c0f34a4_1_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166" name="Google Shape;166;h5f51e53b6c0f34a4_1_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f51e53b6c0f34a4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h5f51e53b6c0f34a4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178" name="Google Shape;178;h5f51e53b6c0f34a4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9b87f89b57a64ac_2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h69b87f89b57a64ac_2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04" name="Google Shape;204;h69b87f89b57a64ac_2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9b87f89b57a64ac_22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h69b87f89b57a64ac_22_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12" name="Google Shape;212;h69b87f89b57a64ac_22_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69b87f89b57a64ac_22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h69b87f89b57a64ac_22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22" name="Google Shape;222;h69b87f89b57a64ac_22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41d1ffc621abe7e_0_2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h641d1ffc621abe7e_0_2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30" name="Google Shape;230;h641d1ffc621abe7e_0_2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69b87f89b57a64ac_22_2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h69b87f89b57a64ac_22_2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39" name="Google Shape;239;h69b87f89b57a64ac_22_2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69b87f89b57a64ac_22_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h69b87f89b57a64ac_22_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50" name="Google Shape;250;h69b87f89b57a64ac_22_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9b87f89b57a64ac_22_2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h69b87f89b57a64ac_22_2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60" name="Google Shape;260;h69b87f89b57a64ac_22_2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5f51e53b6c0f34a4_1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5f51e53b6c0f34a4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MC Notes: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Build things that matter, not just tinkering.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Get out of the rat race (chasing valuations)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400" u="sng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Who learn how to build together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69b87f89b57a64ac_22_2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h69b87f89b57a64ac_22_2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86" name="Google Shape;286;h69b87f89b57a64ac_22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5f51e53b6c0f34a4_1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h5f51e53b6c0f34a4_1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students are Massachusetts’ greatest asset. Hackachusetts gives them support and opportunities by bringing people together across campuses, embracing casual connections, and organizing industry-focused initiatives. Those relationships and shared projects help students build the future we want to live in. Based on Durkin’s revised framing.</a:t>
            </a:r>
            <a:endParaRPr/>
          </a:p>
        </p:txBody>
      </p:sp>
      <p:sp>
        <p:nvSpPr>
          <p:cNvPr id="296" name="Google Shape;296;h5f51e53b6c0f34a4_1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76ed7775c26ac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76ed7775c26ac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641d1ffc621abe7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641d1ffc621abe7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76ed7775c26ac0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76ed7775c26ac0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5f51e53b6c0f34a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5f51e53b6c0f34a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641d1ffc621abe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h641d1ffc621abe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69b87f89b57a64ac_22_3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h69b87f89b57a64ac_22_3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376" name="Google Shape;376;h69b87f89b57a64ac_22_3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69b87f89b57a64ac_22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h69b87f89b57a64ac_22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641d1ffc621abe7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641d1ffc621abe7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641d1ffc621abe7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h641d1ffc621abe7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h69b87f89b57a64ac_22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h69b87f89b57a64ac_2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641d1ffc621abe7e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h641d1ffc621abe7e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69b87f89b57a64ac_22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h69b87f89b57a64ac_2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641d1ffc621abe7e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641d1ffc621abe7e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69b87f89b57a64ac_22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h69b87f89b57a64ac_2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69b87f89b57a64ac_22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h69b87f89b57a64ac_2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69b87f89b57a64ac_22_3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h69b87f89b57a64ac_22_3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466" name="Google Shape;466;h69b87f89b57a64ac_22_3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h5f51e53b6c0f34a4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h5f51e53b6c0f34a4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h5f51e53b6c0f34a4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h5f51e53b6c0f34a4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69b87f89b57a64ac_2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h69b87f89b57a64ac_2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69b87f89b57a64ac_22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69b87f89b57a64ac_2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h5f51e53b6c0f34a4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h5f51e53b6c0f34a4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641d1ffc621abe7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h641d1ffc621abe7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h641d1ffc621abe7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h641d1ffc621abe7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641d1ffc621abe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h641d1ffc621abe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h69b87f89b57a64ac_22_4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h69b87f89b57a64ac_22_4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Updated schedule from Durkin: 11:00–11:30 am brunch and getting to know each other; 11:30–11:45 opening remarks; 11:45 am–1:15 pm finalist pitches; 1:15–1:30 break and judges’ deliberation; 1:30–2:00 awards. Sunday, October 25, WHOOP headquarters.</a:t>
            </a:r>
            <a:endParaRPr/>
          </a:p>
        </p:txBody>
      </p:sp>
      <p:sp>
        <p:nvSpPr>
          <p:cNvPr id="572" name="Google Shape;572;h69b87f89b57a64ac_22_4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h69b87f89b57a64ac_22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h69b87f89b57a64ac_22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5f51e53b6c0f34a4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h5f51e53b6c0f34a4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h69b87f89b57a64ac_22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h69b87f89b57a64ac_2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5f51e53b6c0f34a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h5f51e53b6c0f34a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641d1ffc621abe7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h641d1ffc621abe7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h641d1ffc621abe7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h641d1ffc621abe7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h641d1ffc621abe7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h641d1ffc621abe7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914400" y="1943100"/>
            <a:ext cx="7315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subTitle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914400" y="2143125"/>
            <a:ext cx="7315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title"/>
          </p:nvPr>
        </p:nvSpPr>
        <p:spPr>
          <a:xfrm>
            <a:off x="514350" y="400050"/>
            <a:ext cx="8115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514350" y="400050"/>
            <a:ext cx="8115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514350" y="400050"/>
            <a:ext cx="81153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9" name="Google Shape;69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20"/>
          <p:cNvSpPr/>
          <p:nvPr/>
        </p:nvSpPr>
        <p:spPr>
          <a:xfrm rot="-5400000">
            <a:off x="1970250" y="-2000400"/>
            <a:ext cx="5203500" cy="9144300"/>
          </a:xfrm>
          <a:prstGeom prst="rect">
            <a:avLst/>
          </a:prstGeom>
          <a:solidFill>
            <a:srgbClr val="020E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22"/>
          <p:cNvSpPr/>
          <p:nvPr/>
        </p:nvSpPr>
        <p:spPr>
          <a:xfrm rot="-5400000">
            <a:off x="1970250" y="-2000400"/>
            <a:ext cx="5203500" cy="9144300"/>
          </a:xfrm>
          <a:prstGeom prst="rect">
            <a:avLst/>
          </a:prstGeom>
          <a:solidFill>
            <a:srgbClr val="020F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>
            <a:off x="311700" y="23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20F29"/>
              </a:buClr>
              <a:buSzPts val="2400"/>
              <a:buFont typeface="Orbitron"/>
              <a:buNone/>
              <a:defRPr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type="title"/>
          </p:nvPr>
        </p:nvSpPr>
        <p:spPr>
          <a:xfrm>
            <a:off x="311700" y="23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 sz="14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" name="Google Shape;91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 sz="14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type="title"/>
          </p:nvPr>
        </p:nvSpPr>
        <p:spPr>
          <a:xfrm>
            <a:off x="311700" y="23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D3C52"/>
              </a:buClr>
              <a:buSzPts val="2400"/>
              <a:buFont typeface="Orbitron"/>
              <a:buNone/>
              <a:defRPr>
                <a:solidFill>
                  <a:srgbClr val="2D3C5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" name="Google Shape;10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Inter"/>
              <a:buNone/>
              <a:defRPr sz="21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7" name="Google Shape;107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○"/>
              <a:defRPr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■"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11" name="Google Shape;11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33"/>
          <p:cNvCxnSpPr/>
          <p:nvPr/>
        </p:nvCxnSpPr>
        <p:spPr>
          <a:xfrm>
            <a:off x="289650" y="767113"/>
            <a:ext cx="8564700" cy="0"/>
          </a:xfrm>
          <a:prstGeom prst="straightConnector1">
            <a:avLst/>
          </a:prstGeom>
          <a:noFill/>
          <a:ln cap="flat" cmpd="sng" w="63500">
            <a:solidFill>
              <a:srgbClr val="80808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0" name="Google Shape;120;p33"/>
          <p:cNvSpPr txBox="1"/>
          <p:nvPr>
            <p:ph type="title"/>
          </p:nvPr>
        </p:nvSpPr>
        <p:spPr>
          <a:xfrm>
            <a:off x="106250" y="0"/>
            <a:ext cx="71073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1000"/>
              <a:buFont typeface="Helvetica Neue"/>
              <a:buNone/>
              <a:defRPr b="1" i="0" sz="3000" u="none" cap="none" strike="noStrike"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9933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3"/>
          <p:cNvSpPr txBox="1"/>
          <p:nvPr>
            <p:ph idx="1" type="body"/>
          </p:nvPr>
        </p:nvSpPr>
        <p:spPr>
          <a:xfrm>
            <a:off x="289650" y="1004850"/>
            <a:ext cx="7221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250" lvl="0" marL="457200" marR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993333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marR="0" algn="l">
              <a:lnSpc>
                <a:spcPct val="121739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–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marR="0" algn="l">
              <a:spcBef>
                <a:spcPts val="1400"/>
              </a:spcBef>
              <a:spcAft>
                <a:spcPts val="0"/>
              </a:spcAft>
              <a:buClr>
                <a:srgbClr val="993333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spcBef>
                <a:spcPts val="400"/>
              </a:spcBef>
              <a:spcAft>
                <a:spcPts val="0"/>
              </a:spcAft>
              <a:buSzPts val="1200"/>
              <a:buFont typeface="Open Sans"/>
              <a:buNone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»"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»"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»"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»"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»"/>
              <a:defRPr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595309" y="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>
                <a:solidFill>
                  <a:srgbClr val="99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 txBox="1"/>
          <p:nvPr>
            <p:ph type="ctrTitle"/>
          </p:nvPr>
        </p:nvSpPr>
        <p:spPr>
          <a:xfrm>
            <a:off x="295275" y="781050"/>
            <a:ext cx="5619900" cy="18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4"/>
          <p:cNvSpPr txBox="1"/>
          <p:nvPr>
            <p:ph idx="1" type="subTitle"/>
          </p:nvPr>
        </p:nvSpPr>
        <p:spPr>
          <a:xfrm>
            <a:off x="295275" y="3267075"/>
            <a:ext cx="41529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>
            <p:ph idx="1" type="body"/>
          </p:nvPr>
        </p:nvSpPr>
        <p:spPr>
          <a:xfrm>
            <a:off x="295275" y="1524000"/>
            <a:ext cx="85533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128" name="Google Shape;128;p35"/>
          <p:cNvSpPr txBox="1"/>
          <p:nvPr>
            <p:ph idx="11" type="ftr"/>
          </p:nvPr>
        </p:nvSpPr>
        <p:spPr>
          <a:xfrm>
            <a:off x="295275" y="4709964"/>
            <a:ext cx="2676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59499" y="4709471"/>
            <a:ext cx="389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rgbClr val="020F29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0" name="Google Shape;130;p35"/>
          <p:cNvSpPr txBox="1"/>
          <p:nvPr>
            <p:ph type="title"/>
          </p:nvPr>
        </p:nvSpPr>
        <p:spPr>
          <a:xfrm>
            <a:off x="295275" y="258006"/>
            <a:ext cx="8553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 txBox="1"/>
          <p:nvPr>
            <p:ph idx="11" type="ftr"/>
          </p:nvPr>
        </p:nvSpPr>
        <p:spPr>
          <a:xfrm>
            <a:off x="295275" y="4709964"/>
            <a:ext cx="2676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3" name="Google Shape;133;p36"/>
          <p:cNvSpPr txBox="1"/>
          <p:nvPr>
            <p:ph idx="12" type="sldNum"/>
          </p:nvPr>
        </p:nvSpPr>
        <p:spPr>
          <a:xfrm>
            <a:off x="8459499" y="4709471"/>
            <a:ext cx="389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800"/>
              <a:buFont typeface="Helvetica Neue"/>
              <a:buNone/>
              <a:def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rgbClr val="020F29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34" name="Google Shape;134;p36"/>
          <p:cNvSpPr txBox="1"/>
          <p:nvPr>
            <p:ph type="title"/>
          </p:nvPr>
        </p:nvSpPr>
        <p:spPr>
          <a:xfrm>
            <a:off x="295275" y="258006"/>
            <a:ext cx="8553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_Blank_Light" showMasterSp="0">
  <p:cSld name="B_Blank_Light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311700" y="230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20F29"/>
              </a:buClr>
              <a:buSzPts val="2400"/>
              <a:buFont typeface="Inter"/>
              <a:buNone/>
              <a:defRPr b="1" sz="2400">
                <a:solidFill>
                  <a:srgbClr val="020F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r">
              <a:buNone/>
              <a:defRPr sz="1000">
                <a:solidFill>
                  <a:srgbClr val="020F29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640175" y="75150"/>
            <a:ext cx="450225" cy="5076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3" Type="http://schemas.openxmlformats.org/officeDocument/2006/relationships/image" Target="../media/image28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15" Type="http://schemas.openxmlformats.org/officeDocument/2006/relationships/image" Target="../media/image20.png"/><Relationship Id="rId14" Type="http://schemas.openxmlformats.org/officeDocument/2006/relationships/image" Target="../media/image23.png"/><Relationship Id="rId17" Type="http://schemas.openxmlformats.org/officeDocument/2006/relationships/image" Target="../media/image21.png"/><Relationship Id="rId16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8" Type="http://schemas.openxmlformats.org/officeDocument/2006/relationships/image" Target="../media/image25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hyperlink" Target="https://www.linkedin.com/in/sophie-panarese-64515682/" TargetMode="External"/><Relationship Id="rId13" Type="http://schemas.openxmlformats.org/officeDocument/2006/relationships/hyperlink" Target="https://www.linkedin.com/in/sophie-panarese-64515682/" TargetMode="External"/><Relationship Id="rId12" Type="http://schemas.openxmlformats.org/officeDocument/2006/relationships/hyperlink" Target="https://www.linkedin.com/in/sophie-panarese-64515682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9" Type="http://schemas.openxmlformats.org/officeDocument/2006/relationships/hyperlink" Target="https://www.linkedin.com/in/sophie-panarese-64515682/" TargetMode="External"/><Relationship Id="rId14" Type="http://schemas.openxmlformats.org/officeDocument/2006/relationships/hyperlink" Target="https://www.linkedin.com/in/sophie-panarese-64515682/" TargetMode="External"/><Relationship Id="rId5" Type="http://schemas.openxmlformats.org/officeDocument/2006/relationships/image" Target="../media/image45.png"/><Relationship Id="rId6" Type="http://schemas.openxmlformats.org/officeDocument/2006/relationships/hyperlink" Target="https://www.linkedin.com/in/sophie-panarese-64515682/" TargetMode="External"/><Relationship Id="rId7" Type="http://schemas.openxmlformats.org/officeDocument/2006/relationships/hyperlink" Target="https://www.linkedin.com/in/sophie-panarese-64515682/" TargetMode="External"/><Relationship Id="rId8" Type="http://schemas.openxmlformats.org/officeDocument/2006/relationships/hyperlink" Target="https://www.linkedin.com/in/sophie-panarese-64515682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Relationship Id="rId5" Type="http://schemas.openxmlformats.org/officeDocument/2006/relationships/hyperlink" Target="https://www.linkedin.com/in/sophie-panarese-64515682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Relationship Id="rId5" Type="http://schemas.openxmlformats.org/officeDocument/2006/relationships/hyperlink" Target="https://www.linkedin.com/in/sophie-panarese-64515682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Relationship Id="rId4" Type="http://schemas.openxmlformats.org/officeDocument/2006/relationships/image" Target="../media/image3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Relationship Id="rId4" Type="http://schemas.openxmlformats.org/officeDocument/2006/relationships/image" Target="../media/image3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31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33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33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8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8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38" title="hackachusettsrules-q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0938" y="1567416"/>
            <a:ext cx="2230725" cy="22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8"/>
          <p:cNvSpPr txBox="1"/>
          <p:nvPr/>
        </p:nvSpPr>
        <p:spPr>
          <a:xfrm>
            <a:off x="5169900" y="562465"/>
            <a:ext cx="27528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SUBMISSION GUIDELINES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</p:txBody>
      </p:sp>
      <p:sp>
        <p:nvSpPr>
          <p:cNvPr id="145" name="Google Shape;145;p38"/>
          <p:cNvSpPr txBox="1"/>
          <p:nvPr/>
        </p:nvSpPr>
        <p:spPr>
          <a:xfrm>
            <a:off x="716900" y="656513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ALL EVENT INFO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9A526"/>
              </a:solidFill>
            </a:endParaRPr>
          </a:p>
        </p:txBody>
      </p:sp>
      <p:pic>
        <p:nvPicPr>
          <p:cNvPr id="146" name="Google Shape;146;p38" title="3yaty774-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4099" y="1560699"/>
            <a:ext cx="2230700" cy="22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8"/>
          <p:cNvSpPr txBox="1"/>
          <p:nvPr/>
        </p:nvSpPr>
        <p:spPr>
          <a:xfrm>
            <a:off x="578950" y="3888890"/>
            <a:ext cx="344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9A526"/>
                </a:solidFill>
              </a:rPr>
              <a:t>massaicoalition.com/hackachusetts</a:t>
            </a:r>
            <a:endParaRPr sz="1600">
              <a:solidFill>
                <a:srgbClr val="F9A526"/>
              </a:solidFill>
            </a:endParaRPr>
          </a:p>
        </p:txBody>
      </p:sp>
      <p:sp>
        <p:nvSpPr>
          <p:cNvPr id="148" name="Google Shape;148;p38"/>
          <p:cNvSpPr txBox="1"/>
          <p:nvPr/>
        </p:nvSpPr>
        <p:spPr>
          <a:xfrm>
            <a:off x="5065735" y="383977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</a:rPr>
              <a:t>SUNDAI.CLUB</a:t>
            </a:r>
            <a:endParaRPr sz="1800">
              <a:solidFill>
                <a:srgbClr val="F9A5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9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9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9"/>
          <p:cNvSpPr txBox="1"/>
          <p:nvPr/>
        </p:nvSpPr>
        <p:spPr>
          <a:xfrm>
            <a:off x="716900" y="656525"/>
            <a:ext cx="719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WIFI: TheEngine-Event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PASSWORD: ToughTechWeek</a:t>
            </a:r>
            <a:endParaRPr>
              <a:solidFill>
                <a:srgbClr val="F9A5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12" y="122042"/>
            <a:ext cx="8122750" cy="48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1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1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1"/>
          <p:cNvSpPr txBox="1"/>
          <p:nvPr/>
        </p:nvSpPr>
        <p:spPr>
          <a:xfrm>
            <a:off x="1645342" y="657204"/>
            <a:ext cx="5830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F9900"/>
                </a:solidFill>
              </a:rPr>
              <a:t>Make sure you are in the discord channels!</a:t>
            </a:r>
            <a:endParaRPr i="1" sz="2200">
              <a:solidFill>
                <a:srgbClr val="FF9900"/>
              </a:solidFill>
            </a:endParaRPr>
          </a:p>
        </p:txBody>
      </p:sp>
      <p:sp>
        <p:nvSpPr>
          <p:cNvPr id="171" name="Google Shape;171;p41"/>
          <p:cNvSpPr txBox="1"/>
          <p:nvPr/>
        </p:nvSpPr>
        <p:spPr>
          <a:xfrm>
            <a:off x="1657069" y="4099291"/>
            <a:ext cx="1436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F9900"/>
                </a:solidFill>
              </a:rPr>
              <a:t>Sundai</a:t>
            </a:r>
            <a:endParaRPr i="1" sz="22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rgbClr val="FF9900"/>
              </a:solidFill>
            </a:endParaRPr>
          </a:p>
        </p:txBody>
      </p:sp>
      <p:pic>
        <p:nvPicPr>
          <p:cNvPr id="172" name="Google Shape;172;p41" title="53trmkdr-q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245" y="1431820"/>
            <a:ext cx="2492075" cy="2492075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41" title="Kirodiscord-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9075" y="1325699"/>
            <a:ext cx="2636700" cy="2636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41"/>
          <p:cNvSpPr txBox="1"/>
          <p:nvPr/>
        </p:nvSpPr>
        <p:spPr>
          <a:xfrm>
            <a:off x="5739194" y="4099291"/>
            <a:ext cx="1436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F9900"/>
                </a:solidFill>
              </a:rPr>
              <a:t>Kiro</a:t>
            </a:r>
            <a:endParaRPr i="1" sz="22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42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-1352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2"/>
          <p:cNvSpPr/>
          <p:nvPr/>
        </p:nvSpPr>
        <p:spPr>
          <a:xfrm>
            <a:off x="0" y="-1352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2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SCHEDULE</a:t>
            </a:r>
            <a:endParaRPr sz="1100"/>
          </a:p>
        </p:txBody>
      </p:sp>
      <p:sp>
        <p:nvSpPr>
          <p:cNvPr id="183" name="Google Shape;183;p42"/>
          <p:cNvSpPr/>
          <p:nvPr/>
        </p:nvSpPr>
        <p:spPr>
          <a:xfrm>
            <a:off x="471488" y="1034783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08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:00</a:t>
            </a:r>
            <a:r>
              <a:rPr b="1" lang="en">
                <a:solidFill>
                  <a:srgbClr val="00BDEB"/>
                </a:solidFill>
              </a:rPr>
              <a:t>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 AM</a:t>
            </a:r>
            <a:endParaRPr sz="900"/>
          </a:p>
        </p:txBody>
      </p:sp>
      <p:sp>
        <p:nvSpPr>
          <p:cNvPr id="184" name="Google Shape;184;p42"/>
          <p:cNvSpPr/>
          <p:nvPr/>
        </p:nvSpPr>
        <p:spPr>
          <a:xfrm>
            <a:off x="3071813" y="103478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Registration &amp; breakfast</a:t>
            </a:r>
            <a:endParaRPr sz="900"/>
          </a:p>
        </p:txBody>
      </p:sp>
      <p:sp>
        <p:nvSpPr>
          <p:cNvPr id="185" name="Google Shape;185;p42"/>
          <p:cNvSpPr/>
          <p:nvPr/>
        </p:nvSpPr>
        <p:spPr>
          <a:xfrm>
            <a:off x="471488" y="1418792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AM</a:t>
            </a:r>
            <a:endParaRPr sz="900"/>
          </a:p>
        </p:txBody>
      </p:sp>
      <p:sp>
        <p:nvSpPr>
          <p:cNvPr id="186" name="Google Shape;186;p42"/>
          <p:cNvSpPr/>
          <p:nvPr/>
        </p:nvSpPr>
        <p:spPr>
          <a:xfrm>
            <a:off x="3071813" y="141879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Welcome!</a:t>
            </a:r>
            <a:endParaRPr sz="900"/>
          </a:p>
        </p:txBody>
      </p:sp>
      <p:sp>
        <p:nvSpPr>
          <p:cNvPr id="187" name="Google Shape;187;p42"/>
          <p:cNvSpPr/>
          <p:nvPr/>
        </p:nvSpPr>
        <p:spPr>
          <a:xfrm>
            <a:off x="471488" y="1825564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40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A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900"/>
          </a:p>
        </p:txBody>
      </p:sp>
      <p:sp>
        <p:nvSpPr>
          <p:cNvPr id="188" name="Google Shape;188;p42"/>
          <p:cNvSpPr/>
          <p:nvPr/>
        </p:nvSpPr>
        <p:spPr>
          <a:xfrm>
            <a:off x="3071813" y="188644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AI News</a:t>
            </a:r>
            <a:endParaRPr sz="900"/>
          </a:p>
        </p:txBody>
      </p:sp>
      <p:sp>
        <p:nvSpPr>
          <p:cNvPr id="189" name="Google Shape;189;p42"/>
          <p:cNvSpPr/>
          <p:nvPr/>
        </p:nvSpPr>
        <p:spPr>
          <a:xfrm>
            <a:off x="464724" y="2242099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4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">
                <a:solidFill>
                  <a:srgbClr val="00BDEB"/>
                </a:solidFill>
              </a:rPr>
              <a:t> - 10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 AM</a:t>
            </a:r>
            <a:endParaRPr sz="900"/>
          </a:p>
        </p:txBody>
      </p:sp>
      <p:sp>
        <p:nvSpPr>
          <p:cNvPr id="190" name="Google Shape;190;p42"/>
          <p:cNvSpPr/>
          <p:nvPr/>
        </p:nvSpPr>
        <p:spPr>
          <a:xfrm>
            <a:off x="3065049" y="2242099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Hackachusetts Playbook: Challenges &amp; Guidelines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91" name="Google Shape;191;p42"/>
          <p:cNvSpPr/>
          <p:nvPr/>
        </p:nvSpPr>
        <p:spPr>
          <a:xfrm>
            <a:off x="464724" y="2650120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AM</a:t>
            </a:r>
            <a:endParaRPr sz="900"/>
          </a:p>
        </p:txBody>
      </p:sp>
      <p:sp>
        <p:nvSpPr>
          <p:cNvPr id="192" name="Google Shape;192;p42"/>
          <p:cNvSpPr/>
          <p:nvPr/>
        </p:nvSpPr>
        <p:spPr>
          <a:xfrm>
            <a:off x="3065049" y="2650120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How to use Kiro?</a:t>
            </a:r>
            <a:endParaRPr sz="900"/>
          </a:p>
        </p:txBody>
      </p:sp>
      <p:sp>
        <p:nvSpPr>
          <p:cNvPr id="193" name="Google Shape;193;p42"/>
          <p:cNvSpPr/>
          <p:nvPr/>
        </p:nvSpPr>
        <p:spPr>
          <a:xfrm>
            <a:off x="464724" y="3064897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30 - 11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</a:t>
            </a:r>
            <a:r>
              <a:rPr b="1" lang="en">
                <a:solidFill>
                  <a:srgbClr val="00BDEB"/>
                </a:solidFill>
              </a:rPr>
              <a:t>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A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900"/>
          </a:p>
        </p:txBody>
      </p:sp>
      <p:sp>
        <p:nvSpPr>
          <p:cNvPr id="194" name="Google Shape;194;p42"/>
          <p:cNvSpPr/>
          <p:nvPr/>
        </p:nvSpPr>
        <p:spPr>
          <a:xfrm>
            <a:off x="3065049" y="3064905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Hack kick off! Idea pitching &amp; finding my team</a:t>
            </a:r>
            <a:endParaRPr sz="900"/>
          </a:p>
        </p:txBody>
      </p:sp>
      <p:sp>
        <p:nvSpPr>
          <p:cNvPr id="195" name="Google Shape;195;p42"/>
          <p:cNvSpPr/>
          <p:nvPr/>
        </p:nvSpPr>
        <p:spPr>
          <a:xfrm>
            <a:off x="464724" y="3481432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12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:00</a:t>
            </a:r>
            <a:r>
              <a:rPr b="1" lang="en">
                <a:solidFill>
                  <a:srgbClr val="00BDEB"/>
                </a:solidFill>
              </a:rPr>
              <a:t> - 1:00 PM</a:t>
            </a:r>
            <a:endParaRPr sz="900"/>
          </a:p>
        </p:txBody>
      </p:sp>
      <p:sp>
        <p:nvSpPr>
          <p:cNvPr id="196" name="Google Shape;196;p42"/>
          <p:cNvSpPr/>
          <p:nvPr/>
        </p:nvSpPr>
        <p:spPr>
          <a:xfrm>
            <a:off x="3065049" y="348143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Lunch</a:t>
            </a:r>
            <a:endParaRPr sz="900"/>
          </a:p>
        </p:txBody>
      </p:sp>
      <p:sp>
        <p:nvSpPr>
          <p:cNvPr id="197" name="Google Shape;197;p42"/>
          <p:cNvSpPr/>
          <p:nvPr/>
        </p:nvSpPr>
        <p:spPr>
          <a:xfrm>
            <a:off x="464724" y="3889453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05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00 - 06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PM</a:t>
            </a:r>
            <a:endParaRPr sz="900"/>
          </a:p>
        </p:txBody>
      </p:sp>
      <p:sp>
        <p:nvSpPr>
          <p:cNvPr id="198" name="Google Shape;198;p42"/>
          <p:cNvSpPr/>
          <p:nvPr/>
        </p:nvSpPr>
        <p:spPr>
          <a:xfrm>
            <a:off x="3065049" y="388945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Dinner</a:t>
            </a:r>
            <a:endParaRPr sz="900"/>
          </a:p>
        </p:txBody>
      </p:sp>
      <p:sp>
        <p:nvSpPr>
          <p:cNvPr id="199" name="Google Shape;199;p42"/>
          <p:cNvSpPr/>
          <p:nvPr/>
        </p:nvSpPr>
        <p:spPr>
          <a:xfrm>
            <a:off x="471500" y="4322000"/>
            <a:ext cx="13695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232"/>
                </a:solidFill>
              </a:rPr>
              <a:t>08</a:t>
            </a:r>
            <a:r>
              <a:rPr b="1" lang="en">
                <a:solidFill>
                  <a:srgbClr val="FFD23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FFD232"/>
                </a:solidFill>
              </a:rPr>
              <a:t>00 PM</a:t>
            </a:r>
            <a:endParaRPr sz="900">
              <a:solidFill>
                <a:srgbClr val="FFD232"/>
              </a:solidFill>
            </a:endParaRPr>
          </a:p>
        </p:txBody>
      </p:sp>
      <p:sp>
        <p:nvSpPr>
          <p:cNvPr id="200" name="Google Shape;200;p42"/>
          <p:cNvSpPr/>
          <p:nvPr/>
        </p:nvSpPr>
        <p:spPr>
          <a:xfrm>
            <a:off x="3071824" y="432200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D232"/>
                </a:solidFill>
              </a:rPr>
              <a:t>SUBMISSION DEADLINE</a:t>
            </a:r>
            <a:endParaRPr sz="900">
              <a:solidFill>
                <a:srgbClr val="FFD23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3"/>
          <p:cNvSpPr txBox="1"/>
          <p:nvPr/>
        </p:nvSpPr>
        <p:spPr>
          <a:xfrm>
            <a:off x="1198200" y="2188550"/>
            <a:ext cx="674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Feeling overwhelmed by the pace of AI?</a:t>
            </a:r>
            <a:endParaRPr b="1" sz="200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4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44" title="surfs-up-surfs-up-arnold.gi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125" y="598875"/>
            <a:ext cx="3945750" cy="39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4"/>
          <p:cNvSpPr txBox="1"/>
          <p:nvPr/>
        </p:nvSpPr>
        <p:spPr>
          <a:xfrm>
            <a:off x="4722550" y="1026800"/>
            <a:ext cx="187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highlight>
                  <a:schemeClr val="dk1"/>
                </a:highlight>
                <a:latin typeface="Orbitron"/>
                <a:ea typeface="Orbitron"/>
                <a:cs typeface="Orbitron"/>
                <a:sym typeface="Orbitron"/>
              </a:rPr>
              <a:t>All the news that </a:t>
            </a:r>
            <a:r>
              <a:rPr b="1" lang="en" sz="1600">
                <a:solidFill>
                  <a:srgbClr val="00FF00"/>
                </a:solidFill>
                <a:highlight>
                  <a:schemeClr val="dk1"/>
                </a:highlight>
                <a:latin typeface="Orbitron"/>
                <a:ea typeface="Orbitron"/>
                <a:cs typeface="Orbitron"/>
                <a:sym typeface="Orbitron"/>
              </a:rPr>
              <a:t>happened</a:t>
            </a:r>
            <a:r>
              <a:rPr b="1" lang="en">
                <a:solidFill>
                  <a:srgbClr val="00FF00"/>
                </a:solidFill>
                <a:highlight>
                  <a:schemeClr val="dk1"/>
                </a:highlight>
                <a:latin typeface="Orbitron"/>
                <a:ea typeface="Orbitron"/>
                <a:cs typeface="Orbitron"/>
                <a:sym typeface="Orbitron"/>
              </a:rPr>
              <a:t> in AI last week</a:t>
            </a:r>
            <a:endParaRPr b="1">
              <a:solidFill>
                <a:srgbClr val="00FF00"/>
              </a:solidFill>
              <a:highlight>
                <a:schemeClr val="dk1"/>
              </a:highlight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18" name="Google Shape;218;p44"/>
          <p:cNvSpPr txBox="1"/>
          <p:nvPr/>
        </p:nvSpPr>
        <p:spPr>
          <a:xfrm>
            <a:off x="2779291" y="2297944"/>
            <a:ext cx="12084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  <a:highlight>
                  <a:schemeClr val="dk1"/>
                </a:highlight>
              </a:rPr>
              <a:t>EVERYONE</a:t>
            </a:r>
            <a:endParaRPr b="1">
              <a:solidFill>
                <a:srgbClr val="00FF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5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5"/>
          <p:cNvSpPr txBox="1"/>
          <p:nvPr/>
        </p:nvSpPr>
        <p:spPr>
          <a:xfrm>
            <a:off x="74400" y="2094600"/>
            <a:ext cx="8258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To ride the AI wave, you need to get </a:t>
            </a:r>
            <a:r>
              <a:rPr b="1" lang="en" sz="2000">
                <a:solidFill>
                  <a:srgbClr val="00FF00"/>
                </a:solidFill>
                <a:latin typeface="Orbitron"/>
                <a:ea typeface="Orbitron"/>
                <a:cs typeface="Orbitron"/>
                <a:sym typeface="Orbitron"/>
              </a:rPr>
              <a:t>hands-on experience</a:t>
            </a:r>
            <a:endParaRPr b="1" sz="2000">
              <a:solidFill>
                <a:srgbClr val="00FF00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45720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with new releases </a:t>
            </a:r>
            <a:r>
              <a:rPr b="1" lang="en" sz="2000">
                <a:solidFill>
                  <a:srgbClr val="00FF00"/>
                </a:solidFill>
                <a:latin typeface="Orbitron"/>
                <a:ea typeface="Orbitron"/>
                <a:cs typeface="Orbitron"/>
                <a:sym typeface="Orbitron"/>
              </a:rPr>
              <a:t>at least weekly</a:t>
            </a:r>
            <a:endParaRPr b="1" sz="2000">
              <a:solidFill>
                <a:srgbClr val="00FF00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6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46"/>
          <p:cNvPicPr preferRelativeResize="0"/>
          <p:nvPr/>
        </p:nvPicPr>
        <p:blipFill rotWithShape="1">
          <a:blip r:embed="rId4">
            <a:alphaModFix/>
          </a:blip>
          <a:srcRect b="0" l="7418" r="7418" t="0"/>
          <a:stretch/>
        </p:blipFill>
        <p:spPr>
          <a:xfrm>
            <a:off x="1200440" y="1141186"/>
            <a:ext cx="2803525" cy="33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6"/>
          <p:cNvSpPr txBox="1"/>
          <p:nvPr/>
        </p:nvSpPr>
        <p:spPr>
          <a:xfrm>
            <a:off x="4513590" y="2161582"/>
            <a:ext cx="3140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MIT/Harvard-born 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Rapid prototyping of AI MVPs 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every Sunday.</a:t>
            </a:r>
            <a:endParaRPr b="1"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7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47"/>
          <p:cNvPicPr preferRelativeResize="0"/>
          <p:nvPr/>
        </p:nvPicPr>
        <p:blipFill rotWithShape="1">
          <a:blip r:embed="rId4">
            <a:alphaModFix/>
          </a:blip>
          <a:srcRect b="0" l="7418" r="7418" t="0"/>
          <a:stretch/>
        </p:blipFill>
        <p:spPr>
          <a:xfrm>
            <a:off x="1200440" y="1141186"/>
            <a:ext cx="2803525" cy="33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7"/>
          <p:cNvSpPr txBox="1"/>
          <p:nvPr/>
        </p:nvSpPr>
        <p:spPr>
          <a:xfrm>
            <a:off x="4513590" y="2161582"/>
            <a:ext cx="3140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MIT/Harvard-born 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Rapid prototyping of AI MVPs 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every Sunday.</a:t>
            </a:r>
            <a:endParaRPr b="1"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47"/>
          <p:cNvSpPr txBox="1"/>
          <p:nvPr/>
        </p:nvSpPr>
        <p:spPr>
          <a:xfrm>
            <a:off x="4402900" y="987475"/>
            <a:ext cx="39972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F9A526"/>
                </a:solidFill>
                <a:latin typeface="Orbitron"/>
                <a:ea typeface="Orbitron"/>
                <a:cs typeface="Orbitron"/>
                <a:sym typeface="Orbitron"/>
              </a:rPr>
              <a:t>WEEK 146</a:t>
            </a:r>
            <a:endParaRPr b="1" sz="4100">
              <a:solidFill>
                <a:srgbClr val="F9A526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46" name="Google Shape;246;p47"/>
          <p:cNvSpPr txBox="1"/>
          <p:nvPr/>
        </p:nvSpPr>
        <p:spPr>
          <a:xfrm>
            <a:off x="4351274" y="3700875"/>
            <a:ext cx="4272000" cy="9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9A526"/>
                </a:solidFill>
                <a:latin typeface="Orbitron"/>
                <a:ea typeface="Orbitron"/>
                <a:cs typeface="Orbitron"/>
                <a:sym typeface="Orbitron"/>
              </a:rPr>
              <a:t>HACKACHUSETTS</a:t>
            </a:r>
            <a:endParaRPr b="1" sz="3000">
              <a:solidFill>
                <a:srgbClr val="F9A526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8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8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8"/>
          <p:cNvSpPr txBox="1"/>
          <p:nvPr/>
        </p:nvSpPr>
        <p:spPr>
          <a:xfrm>
            <a:off x="400351" y="1812575"/>
            <a:ext cx="7857600" cy="2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origins of hacking</a:t>
            </a:r>
            <a:endParaRPr b="1"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the 1950s, MIT's Tech Model Railroad Club gave rise to the original hacker culture.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 hacker was someone driven by curiosity, technical ingenuity, and creative problem-solving.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term later spread to MIT's early computer culture, where hacking meant exploring technology and finding clever, unconventional solutions.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Hacking wasn't about breaking systems.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 was about understanding, improving, and reinventing them.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6" name="Google Shape;256;p48" title="Screenshot 2026-10-23 at 1.43.35 PM.png"/>
          <p:cNvPicPr preferRelativeResize="0"/>
          <p:nvPr/>
        </p:nvPicPr>
        <p:blipFill rotWithShape="1">
          <a:blip r:embed="rId4">
            <a:alphaModFix/>
          </a:blip>
          <a:srcRect b="58283" l="11214" r="7821" t="15452"/>
          <a:stretch/>
        </p:blipFill>
        <p:spPr>
          <a:xfrm>
            <a:off x="689875" y="263778"/>
            <a:ext cx="7006802" cy="127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9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9"/>
          <p:cNvSpPr txBox="1"/>
          <p:nvPr/>
        </p:nvSpPr>
        <p:spPr>
          <a:xfrm>
            <a:off x="4825906" y="3342499"/>
            <a:ext cx="367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/ˌenjəˈnir/</a:t>
            </a:r>
            <a:endParaRPr sz="15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meticulous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builds structure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stable, robust systems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49"/>
          <p:cNvSpPr txBox="1"/>
          <p:nvPr>
            <p:ph idx="1" type="subTitle"/>
          </p:nvPr>
        </p:nvSpPr>
        <p:spPr>
          <a:xfrm>
            <a:off x="4789590" y="1476925"/>
            <a:ext cx="3752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1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 </a:t>
            </a:r>
            <a:r>
              <a:rPr lang="en" sz="2150">
                <a:solidFill>
                  <a:srgbClr val="F9A526"/>
                </a:solidFill>
                <a:latin typeface="Roboto"/>
                <a:ea typeface="Roboto"/>
                <a:cs typeface="Roboto"/>
                <a:sym typeface="Roboto"/>
              </a:rPr>
              <a:t>hacker_vs_engineer():</a:t>
            </a:r>
            <a:endParaRPr sz="2150">
              <a:solidFill>
                <a:srgbClr val="F9A5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/ˈhakər/</a:t>
            </a:r>
            <a:endParaRPr sz="15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49"/>
          <p:cNvSpPr txBox="1"/>
          <p:nvPr>
            <p:ph type="ctrTitle"/>
          </p:nvPr>
        </p:nvSpPr>
        <p:spPr>
          <a:xfrm>
            <a:off x="162425" y="143400"/>
            <a:ext cx="883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Hacker vs. engineer</a:t>
            </a:r>
            <a:endParaRPr b="1"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67" name="Google Shape;267;p49"/>
          <p:cNvSpPr txBox="1"/>
          <p:nvPr>
            <p:ph idx="2" type="subTitle"/>
          </p:nvPr>
        </p:nvSpPr>
        <p:spPr>
          <a:xfrm>
            <a:off x="613961" y="1476925"/>
            <a:ext cx="4175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1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 </a:t>
            </a:r>
            <a:r>
              <a:rPr lang="en" sz="2150">
                <a:solidFill>
                  <a:srgbClr val="F9A526"/>
                </a:solidFill>
                <a:latin typeface="Roboto"/>
                <a:ea typeface="Roboto"/>
                <a:cs typeface="Roboto"/>
                <a:sym typeface="Roboto"/>
              </a:rPr>
              <a:t>hack():</a:t>
            </a:r>
            <a:endParaRPr sz="2150">
              <a:solidFill>
                <a:srgbClr val="F9A5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57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/ˈhak’/</a:t>
            </a:r>
            <a:endParaRPr sz="2665">
              <a:solidFill>
                <a:schemeClr val="lt1"/>
              </a:solidFill>
            </a:endParaRPr>
          </a:p>
        </p:txBody>
      </p:sp>
      <p:sp>
        <p:nvSpPr>
          <p:cNvPr id="268" name="Google Shape;268;p49"/>
          <p:cNvSpPr txBox="1"/>
          <p:nvPr/>
        </p:nvSpPr>
        <p:spPr>
          <a:xfrm>
            <a:off x="661881" y="2353675"/>
            <a:ext cx="460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“an ingenious move” 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“a shortcut”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49"/>
          <p:cNvSpPr txBox="1"/>
          <p:nvPr/>
        </p:nvSpPr>
        <p:spPr>
          <a:xfrm>
            <a:off x="710850" y="3078025"/>
            <a:ext cx="34638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i)  bad   → break into systems 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ii) good → do impressive things </a:t>
            </a:r>
            <a:r>
              <a:rPr lang="en" sz="135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fast</a:t>
            </a: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49"/>
          <p:cNvSpPr txBox="1"/>
          <p:nvPr/>
        </p:nvSpPr>
        <p:spPr>
          <a:xfrm>
            <a:off x="4802331" y="2336699"/>
            <a:ext cx="36798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fast 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uses structure 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Roboto"/>
              <a:buNone/>
            </a:pPr>
            <a:r>
              <a:rPr lang="en" sz="13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→ flexible, prototypes, iterates</a:t>
            </a:r>
            <a:endParaRPr sz="135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0"/>
          <p:cNvSpPr txBox="1"/>
          <p:nvPr>
            <p:ph idx="1" type="subTitle"/>
          </p:nvPr>
        </p:nvSpPr>
        <p:spPr>
          <a:xfrm>
            <a:off x="0" y="6989406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0"/>
          <p:cNvSpPr txBox="1"/>
          <p:nvPr>
            <p:ph type="ctrTitle"/>
          </p:nvPr>
        </p:nvSpPr>
        <p:spPr>
          <a:xfrm>
            <a:off x="162425" y="143400"/>
            <a:ext cx="8831100" cy="5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248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Our mission</a:t>
            </a:r>
            <a:endParaRPr b="0"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78" name="Google Shape;2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9550" y="76200"/>
            <a:ext cx="708250" cy="7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0"/>
          <p:cNvSpPr txBox="1"/>
          <p:nvPr/>
        </p:nvSpPr>
        <p:spPr>
          <a:xfrm>
            <a:off x="1504458" y="913225"/>
            <a:ext cx="46251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Build something meaningful</a:t>
            </a:r>
            <a:endParaRPr b="1" sz="19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rbitron"/>
              <a:buChar char="●"/>
            </a:pPr>
            <a:r>
              <a:rPr b="1" lang="en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users | $$$ | github stars </a:t>
            </a:r>
            <a:endParaRPr b="1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Grow the best hackers</a:t>
            </a:r>
            <a:endParaRPr b="1" sz="19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b="1" lang="en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learn to build fast with AI.</a:t>
            </a:r>
            <a:endParaRPr b="1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Spread the Hacker mindset</a:t>
            </a:r>
            <a:endParaRPr b="1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teach the skills we learn at MIT and </a:t>
            </a:r>
            <a:r>
              <a:rPr b="1" lang="en" u="sng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beyond</a:t>
            </a:r>
            <a:endParaRPr sz="1500" u="sng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endParaRPr sz="15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269075" y="803325"/>
            <a:ext cx="1276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0</a:t>
            </a:r>
            <a:r>
              <a:rPr b="1" lang="en" sz="28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b="1" lang="en" sz="46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1</a:t>
            </a:r>
            <a:endParaRPr b="1" sz="46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81" name="Google Shape;281;p50"/>
          <p:cNvSpPr txBox="1"/>
          <p:nvPr/>
        </p:nvSpPr>
        <p:spPr>
          <a:xfrm>
            <a:off x="269075" y="2247364"/>
            <a:ext cx="1276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02</a:t>
            </a:r>
            <a:endParaRPr b="1" sz="46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82" name="Google Shape;282;p50"/>
          <p:cNvSpPr txBox="1"/>
          <p:nvPr/>
        </p:nvSpPr>
        <p:spPr>
          <a:xfrm>
            <a:off x="269075" y="3691414"/>
            <a:ext cx="1276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7196CC"/>
                </a:solidFill>
                <a:latin typeface="Orbitron"/>
                <a:ea typeface="Orbitron"/>
                <a:cs typeface="Orbitron"/>
                <a:sym typeface="Orbitron"/>
              </a:rPr>
              <a:t>03</a:t>
            </a:r>
            <a:endParaRPr b="1" sz="4600">
              <a:solidFill>
                <a:srgbClr val="7196CC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1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1"/>
          <p:cNvSpPr txBox="1"/>
          <p:nvPr>
            <p:ph type="ctrTitle"/>
          </p:nvPr>
        </p:nvSpPr>
        <p:spPr>
          <a:xfrm>
            <a:off x="162425" y="143400"/>
            <a:ext cx="883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8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State-of-the-art</a:t>
            </a:r>
            <a:endParaRPr b="1"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480">
              <a:solidFill>
                <a:schemeClr val="l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91" name="Google Shape;291;p51" title="Screenshot 2026-10-24 at 6.51.3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675" y="782100"/>
            <a:ext cx="5909327" cy="196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1" title="Screenshot 2026-10-24 at 6.53.2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0813" y="2804402"/>
            <a:ext cx="5857051" cy="20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2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2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2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WHY HACKACHUSETTS</a:t>
            </a:r>
            <a:endParaRPr sz="1100"/>
          </a:p>
        </p:txBody>
      </p:sp>
      <p:sp>
        <p:nvSpPr>
          <p:cNvPr id="301" name="Google Shape;301;p52"/>
          <p:cNvSpPr/>
          <p:nvPr/>
        </p:nvSpPr>
        <p:spPr>
          <a:xfrm>
            <a:off x="457200" y="1300163"/>
            <a:ext cx="77151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Our students are</a:t>
            </a:r>
            <a:r>
              <a:rPr lang="en" sz="1100"/>
              <a:t> </a:t>
            </a:r>
            <a:r>
              <a:rPr b="1" lang="en" sz="2900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Massachusetts’ </a:t>
            </a:r>
            <a:endParaRPr b="1" sz="2900">
              <a:solidFill>
                <a:srgbClr val="00BD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greatest asset. YOU are the future.</a:t>
            </a:r>
            <a:endParaRPr sz="1100"/>
          </a:p>
        </p:txBody>
      </p:sp>
      <p:sp>
        <p:nvSpPr>
          <p:cNvPr id="302" name="Google Shape;302;p52"/>
          <p:cNvSpPr/>
          <p:nvPr/>
        </p:nvSpPr>
        <p:spPr>
          <a:xfrm>
            <a:off x="457200" y="2571019"/>
            <a:ext cx="7786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●"/>
            </a:pPr>
            <a:r>
              <a:rPr b="0" lang="en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Bring students together across campuses and industries.</a:t>
            </a:r>
            <a:endParaRPr sz="1100"/>
          </a:p>
          <a:p>
            <a:pPr indent="-2857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●"/>
            </a:pPr>
            <a:r>
              <a:rPr b="0" lang="en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Turn casual connections into opportunities to build.</a:t>
            </a:r>
            <a:endParaRPr sz="1100"/>
          </a:p>
          <a:p>
            <a:pPr indent="-2857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●"/>
            </a:pPr>
            <a:r>
              <a:rPr b="0" lang="en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Give them the support to create the future</a:t>
            </a:r>
            <a:r>
              <a:rPr lang="en" sz="1100"/>
              <a:t> </a:t>
            </a:r>
            <a:r>
              <a:rPr b="0" lang="en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want to live in.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305425" y="463275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0B0D"/>
                </a:solidFill>
                <a:latin typeface="Arial"/>
                <a:ea typeface="Arial"/>
                <a:cs typeface="Arial"/>
                <a:sym typeface="Arial"/>
              </a:rPr>
              <a:t>TITLE SPONSORS</a:t>
            </a:r>
            <a:endParaRPr b="1"/>
          </a:p>
        </p:txBody>
      </p:sp>
      <p:pic>
        <p:nvPicPr>
          <p:cNvPr id="308" name="Google Shape;30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633" y="1177475"/>
            <a:ext cx="901782" cy="529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7750" y="1573706"/>
            <a:ext cx="1333500" cy="41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20" y="3163026"/>
            <a:ext cx="1427581" cy="527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249" y="3971200"/>
            <a:ext cx="1721497" cy="28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3833" y="2567249"/>
            <a:ext cx="1584545" cy="4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53"/>
          <p:cNvSpPr/>
          <p:nvPr/>
        </p:nvSpPr>
        <p:spPr>
          <a:xfrm>
            <a:off x="3201700" y="453675"/>
            <a:ext cx="2524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0B0D"/>
                </a:solidFill>
                <a:latin typeface="Arial"/>
                <a:ea typeface="Arial"/>
                <a:cs typeface="Arial"/>
                <a:sym typeface="Arial"/>
              </a:rPr>
              <a:t>CO-SPONSORS</a:t>
            </a:r>
            <a:endParaRPr b="1"/>
          </a:p>
        </p:txBody>
      </p:sp>
      <p:pic>
        <p:nvPicPr>
          <p:cNvPr id="314" name="Google Shape;314;p53"/>
          <p:cNvPicPr preferRelativeResize="0"/>
          <p:nvPr/>
        </p:nvPicPr>
        <p:blipFill rotWithShape="1">
          <a:blip r:embed="rId8">
            <a:alphaModFix/>
          </a:blip>
          <a:srcRect b="21997" l="15001" r="15001" t="22003"/>
          <a:stretch/>
        </p:blipFill>
        <p:spPr>
          <a:xfrm>
            <a:off x="3581642" y="972400"/>
            <a:ext cx="873972" cy="568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88877" y="1895058"/>
            <a:ext cx="1136159" cy="5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47339" y="2779382"/>
            <a:ext cx="1619240" cy="42730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3"/>
          <p:cNvSpPr/>
          <p:nvPr/>
        </p:nvSpPr>
        <p:spPr>
          <a:xfrm>
            <a:off x="6004675" y="491450"/>
            <a:ext cx="2524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0B0D"/>
                </a:solidFill>
              </a:rPr>
              <a:t>STATE PARTNERS</a:t>
            </a:r>
            <a:endParaRPr b="1"/>
          </a:p>
        </p:txBody>
      </p:sp>
      <p:pic>
        <p:nvPicPr>
          <p:cNvPr id="318" name="Google Shape;318;p5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3197" y="1946014"/>
            <a:ext cx="1345786" cy="41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3" title="Screenshot 2026-10-24 at 7.00.11 A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23254" y="937450"/>
            <a:ext cx="2169122" cy="96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3" title="Screenshot 2026-10-24 at 7.00.41 A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613250" y="2110412"/>
            <a:ext cx="1292550" cy="48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3" title="Screenshot 2026-10-24 at 7.01.13 A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966670" y="2110622"/>
            <a:ext cx="873975" cy="417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3" title="Screenshot 2026-10-24 at 7.01.36 A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105547" y="2803705"/>
            <a:ext cx="2014909" cy="40298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3"/>
          <p:cNvSpPr/>
          <p:nvPr/>
        </p:nvSpPr>
        <p:spPr>
          <a:xfrm>
            <a:off x="6075924" y="3498621"/>
            <a:ext cx="2524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0B0D"/>
                </a:solidFill>
              </a:rPr>
              <a:t>CITY</a:t>
            </a:r>
            <a:r>
              <a:rPr b="1" lang="en" sz="1500">
                <a:solidFill>
                  <a:srgbClr val="080B0D"/>
                </a:solidFill>
              </a:rPr>
              <a:t> PARTNER</a:t>
            </a:r>
            <a:endParaRPr/>
          </a:p>
        </p:txBody>
      </p:sp>
      <p:pic>
        <p:nvPicPr>
          <p:cNvPr id="324" name="Google Shape;324;p53" title="Screenshot 2026-10-24 at 7.02.14 A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261579" y="3871614"/>
            <a:ext cx="2014908" cy="65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3" title="Screenshot 2026-10-24 at 7.03.29 A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203106" y="4123330"/>
            <a:ext cx="1891953" cy="61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3"/>
          <p:cNvSpPr/>
          <p:nvPr/>
        </p:nvSpPr>
        <p:spPr>
          <a:xfrm>
            <a:off x="2855015" y="3710892"/>
            <a:ext cx="2524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80B0D"/>
                </a:solidFill>
              </a:rPr>
              <a:t>COALITION SUPPORT</a:t>
            </a:r>
            <a:endParaRPr b="1"/>
          </a:p>
        </p:txBody>
      </p:sp>
      <p:pic>
        <p:nvPicPr>
          <p:cNvPr id="327" name="Google Shape;327;p53" title="Screenshot 2026-10-24 at 7.04.13 AM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985025" y="2122998"/>
            <a:ext cx="615096" cy="4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54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4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4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THANK YOU TO OUR SPONSORS!</a:t>
            </a:r>
            <a:endParaRPr sz="1100"/>
          </a:p>
        </p:txBody>
      </p:sp>
      <p:pic>
        <p:nvPicPr>
          <p:cNvPr id="335" name="Google Shape;335;p54" title="BRITTANTY Background Remov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8025" y="2051575"/>
            <a:ext cx="2090613" cy="2090613"/>
          </a:xfrm>
          <a:prstGeom prst="rect">
            <a:avLst/>
          </a:prstGeom>
          <a:solidFill>
            <a:srgbClr val="080B0D"/>
          </a:solidFill>
          <a:ln>
            <a:noFill/>
          </a:ln>
        </p:spPr>
      </p:pic>
      <p:pic>
        <p:nvPicPr>
          <p:cNvPr id="336" name="Google Shape;336;p54" title="Sophie Background Remov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8408" y="2019576"/>
            <a:ext cx="2114100" cy="211407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4"/>
          <p:cNvSpPr txBox="1"/>
          <p:nvPr/>
        </p:nvSpPr>
        <p:spPr>
          <a:xfrm>
            <a:off x="3348594" y="4321524"/>
            <a:ext cx="20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 AI Coalition</a:t>
            </a:r>
            <a:endParaRPr b="1" sz="18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38" name="Google Shape;338;p54"/>
          <p:cNvSpPr txBox="1"/>
          <p:nvPr/>
        </p:nvSpPr>
        <p:spPr>
          <a:xfrm>
            <a:off x="5869065" y="4321536"/>
            <a:ext cx="20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AWS</a:t>
            </a:r>
            <a:endParaRPr b="1" sz="18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39" name="Google Shape;339;p54"/>
          <p:cNvSpPr txBox="1"/>
          <p:nvPr/>
        </p:nvSpPr>
        <p:spPr>
          <a:xfrm>
            <a:off x="3182364" y="1472325"/>
            <a:ext cx="224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Sophie Panarese</a:t>
            </a:r>
            <a:endParaRPr b="1" sz="21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40" name="Google Shape;340;p54"/>
          <p:cNvSpPr txBox="1"/>
          <p:nvPr/>
        </p:nvSpPr>
        <p:spPr>
          <a:xfrm>
            <a:off x="5839037" y="1472337"/>
            <a:ext cx="224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Brittany Bennett</a:t>
            </a:r>
            <a:endParaRPr b="1" sz="21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pic>
        <p:nvPicPr>
          <p:cNvPr id="341" name="Google Shape;341;p54" title="EMILY Background Remove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9573" y="2087475"/>
            <a:ext cx="2114102" cy="2114102"/>
          </a:xfrm>
          <a:prstGeom prst="rect">
            <a:avLst/>
          </a:prstGeom>
          <a:solidFill>
            <a:srgbClr val="080B0D"/>
          </a:solidFill>
          <a:ln>
            <a:noFill/>
          </a:ln>
        </p:spPr>
      </p:pic>
      <p:sp>
        <p:nvSpPr>
          <p:cNvPr id="342" name="Google Shape;342;p54"/>
          <p:cNvSpPr txBox="1"/>
          <p:nvPr/>
        </p:nvSpPr>
        <p:spPr>
          <a:xfrm>
            <a:off x="457200" y="4278750"/>
            <a:ext cx="25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City of Boston</a:t>
            </a:r>
            <a:endParaRPr b="1" sz="18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12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43" name="Google Shape;343;p54"/>
          <p:cNvSpPr txBox="1"/>
          <p:nvPr/>
        </p:nvSpPr>
        <p:spPr>
          <a:xfrm>
            <a:off x="589027" y="1429559"/>
            <a:ext cx="224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Emily Knight</a:t>
            </a:r>
            <a:endParaRPr b="1" sz="2100">
              <a:solidFill>
                <a:schemeClr val="lt1"/>
              </a:solidFill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1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55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5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5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AI NEWS </a:t>
            </a:r>
            <a:endParaRPr sz="1100"/>
          </a:p>
        </p:txBody>
      </p:sp>
      <p:sp>
        <p:nvSpPr>
          <p:cNvPr id="351" name="Google Shape;351;p55"/>
          <p:cNvSpPr txBox="1"/>
          <p:nvPr/>
        </p:nvSpPr>
        <p:spPr>
          <a:xfrm>
            <a:off x="4726137" y="3807956"/>
            <a:ext cx="35190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8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AI Tools Club @Sundai discord </a:t>
            </a:r>
            <a:endParaRPr b="1" sz="2480">
              <a:solidFill>
                <a:srgbClr val="FFFFFF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55"/>
          <p:cNvGrpSpPr/>
          <p:nvPr/>
        </p:nvGrpSpPr>
        <p:grpSpPr>
          <a:xfrm>
            <a:off x="1092609" y="1173166"/>
            <a:ext cx="2573288" cy="3380902"/>
            <a:chOff x="1224518" y="1321220"/>
            <a:chExt cx="2736376" cy="3595175"/>
          </a:xfrm>
        </p:grpSpPr>
        <p:pic>
          <p:nvPicPr>
            <p:cNvPr id="353" name="Google Shape;353;p55" title="qr-code (55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24518" y="1321220"/>
              <a:ext cx="2736373" cy="2736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24518" y="4265071"/>
              <a:ext cx="2736376" cy="6513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5" name="Google Shape;355;p55"/>
          <p:cNvPicPr preferRelativeResize="0"/>
          <p:nvPr/>
        </p:nvPicPr>
        <p:blipFill rotWithShape="1">
          <a:blip r:embed="rId6">
            <a:alphaModFix/>
          </a:blip>
          <a:srcRect b="3612" l="4180" r="4545" t="4476"/>
          <a:stretch/>
        </p:blipFill>
        <p:spPr>
          <a:xfrm>
            <a:off x="5149100" y="1119756"/>
            <a:ext cx="2573300" cy="25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5"/>
          <p:cNvSpPr txBox="1"/>
          <p:nvPr/>
        </p:nvSpPr>
        <p:spPr>
          <a:xfrm>
            <a:off x="4910560" y="431310"/>
            <a:ext cx="3000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80">
                <a:solidFill>
                  <a:srgbClr val="F9A526"/>
                </a:solidFill>
                <a:latin typeface="Orbitron"/>
                <a:ea typeface="Orbitron"/>
                <a:cs typeface="Orbitron"/>
                <a:sym typeface="Orbitron"/>
              </a:rPr>
              <a:t>Tuesdays 5 PM</a:t>
            </a:r>
            <a:r>
              <a:rPr b="1" lang="en" sz="248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56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6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Explain the four tracks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Challenges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Rules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Judging criteria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Discord Links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deadlines</a:t>
            </a:r>
            <a:endParaRPr/>
          </a:p>
        </p:txBody>
      </p:sp>
      <p:sp>
        <p:nvSpPr>
          <p:cNvPr id="363" name="Google Shape;363;p56"/>
          <p:cNvSpPr/>
          <p:nvPr/>
        </p:nvSpPr>
        <p:spPr>
          <a:xfrm>
            <a:off x="390025" y="2017594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HACKACHUSETTS PLAYBOOK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57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7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7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TODAY’S GOAL</a:t>
            </a:r>
            <a:endParaRPr sz="1100"/>
          </a:p>
        </p:txBody>
      </p:sp>
      <p:sp>
        <p:nvSpPr>
          <p:cNvPr id="371" name="Google Shape;371;p57"/>
          <p:cNvSpPr txBox="1"/>
          <p:nvPr/>
        </p:nvSpPr>
        <p:spPr>
          <a:xfrm>
            <a:off x="638675" y="2286150"/>
            <a:ext cx="29640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00FF00"/>
                </a:solidFill>
                <a:latin typeface="Inter"/>
                <a:ea typeface="Inter"/>
                <a:cs typeface="Inter"/>
                <a:sym typeface="Inter"/>
              </a:rPr>
              <a:t>Have your project submitted by </a:t>
            </a:r>
            <a:r>
              <a:rPr b="1" lang="en" sz="2800">
                <a:solidFill>
                  <a:srgbClr val="00FF00"/>
                </a:solidFill>
                <a:latin typeface="Inter"/>
                <a:ea typeface="Inter"/>
                <a:cs typeface="Inter"/>
                <a:sym typeface="Inter"/>
              </a:rPr>
              <a:t>8pm</a:t>
            </a:r>
            <a:endParaRPr b="1" sz="2800">
              <a:solidFill>
                <a:srgbClr val="00FF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2" name="Google Shape;372;p57" title="Screenshot 2026-10-24 at 5.43.2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925" y="1071775"/>
            <a:ext cx="3993375" cy="3772498"/>
          </a:xfrm>
          <a:prstGeom prst="rect">
            <a:avLst/>
          </a:prstGeom>
          <a:noFill/>
          <a:ln cap="flat" cmpd="sng" w="28575">
            <a:solidFill>
              <a:srgbClr val="F9A52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58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58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58" title="hackachusettsrules-q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0938" y="1567416"/>
            <a:ext cx="2230725" cy="22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8"/>
          <p:cNvSpPr txBox="1"/>
          <p:nvPr/>
        </p:nvSpPr>
        <p:spPr>
          <a:xfrm>
            <a:off x="5169900" y="562465"/>
            <a:ext cx="27528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00"/>
                </a:solidFill>
              </a:rPr>
              <a:t>GUIDELINES &amp; CHALLENGES</a:t>
            </a:r>
            <a:endParaRPr sz="24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82" name="Google Shape;382;p58"/>
          <p:cNvSpPr txBox="1"/>
          <p:nvPr/>
        </p:nvSpPr>
        <p:spPr>
          <a:xfrm>
            <a:off x="716900" y="656513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00"/>
                </a:solidFill>
              </a:rPr>
              <a:t>ALL EVENT INFO</a:t>
            </a:r>
            <a:endParaRPr sz="24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383" name="Google Shape;383;p58" title="3yaty774-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4099" y="1560699"/>
            <a:ext cx="2230700" cy="22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8"/>
          <p:cNvSpPr txBox="1"/>
          <p:nvPr/>
        </p:nvSpPr>
        <p:spPr>
          <a:xfrm>
            <a:off x="578950" y="3888890"/>
            <a:ext cx="344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9A526"/>
                </a:solidFill>
              </a:rPr>
              <a:t>massaicoalition.com/hackachusetts</a:t>
            </a:r>
            <a:endParaRPr sz="1600">
              <a:solidFill>
                <a:srgbClr val="F9A526"/>
              </a:solidFill>
            </a:endParaRPr>
          </a:p>
        </p:txBody>
      </p:sp>
      <p:sp>
        <p:nvSpPr>
          <p:cNvPr id="385" name="Google Shape;385;p58"/>
          <p:cNvSpPr txBox="1"/>
          <p:nvPr/>
        </p:nvSpPr>
        <p:spPr>
          <a:xfrm>
            <a:off x="5065735" y="383977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</a:rPr>
              <a:t>SUNDAI.CLUB</a:t>
            </a:r>
            <a:endParaRPr sz="1800">
              <a:solidFill>
                <a:srgbClr val="F9A52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59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9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9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MAKE SURE TO FOLLOW…</a:t>
            </a:r>
            <a:endParaRPr sz="1100"/>
          </a:p>
        </p:txBody>
      </p:sp>
      <p:sp>
        <p:nvSpPr>
          <p:cNvPr id="393" name="Google Shape;393;p59"/>
          <p:cNvSpPr txBox="1"/>
          <p:nvPr/>
        </p:nvSpPr>
        <p:spPr>
          <a:xfrm>
            <a:off x="646575" y="2110275"/>
            <a:ext cx="3242400" cy="24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one track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Max 4 people per team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Kiro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Deadline 8pm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59"/>
          <p:cNvSpPr txBox="1"/>
          <p:nvPr/>
        </p:nvSpPr>
        <p:spPr>
          <a:xfrm>
            <a:off x="527552" y="129677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  <a:latin typeface="Inter"/>
                <a:ea typeface="Inter"/>
                <a:cs typeface="Inter"/>
                <a:sym typeface="Inter"/>
              </a:rPr>
              <a:t>QUALIFIED PROJECTS</a:t>
            </a:r>
            <a:endParaRPr sz="1800">
              <a:solidFill>
                <a:srgbClr val="F9A5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60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60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60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MAKE SURE TO FOLLOW…</a:t>
            </a:r>
            <a:endParaRPr sz="1100"/>
          </a:p>
        </p:txBody>
      </p:sp>
      <p:sp>
        <p:nvSpPr>
          <p:cNvPr id="402" name="Google Shape;402;p60"/>
          <p:cNvSpPr txBox="1"/>
          <p:nvPr/>
        </p:nvSpPr>
        <p:spPr>
          <a:xfrm>
            <a:off x="646575" y="2110275"/>
            <a:ext cx="3242400" cy="24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one track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Max 4 people per team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Kiro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Deadline 8pm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60"/>
          <p:cNvSpPr txBox="1"/>
          <p:nvPr/>
        </p:nvSpPr>
        <p:spPr>
          <a:xfrm>
            <a:off x="527552" y="129677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  <a:latin typeface="Inter"/>
                <a:ea typeface="Inter"/>
                <a:cs typeface="Inter"/>
                <a:sym typeface="Inter"/>
              </a:rPr>
              <a:t>QUALIFIED PROJECTS</a:t>
            </a:r>
            <a:endParaRPr sz="1800">
              <a:solidFill>
                <a:srgbClr val="F9A5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60"/>
          <p:cNvSpPr txBox="1"/>
          <p:nvPr/>
        </p:nvSpPr>
        <p:spPr>
          <a:xfrm>
            <a:off x="4994967" y="1209052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  <a:latin typeface="Inter"/>
                <a:ea typeface="Inter"/>
                <a:cs typeface="Inter"/>
                <a:sym typeface="Inter"/>
              </a:rPr>
              <a:t>SUBMISSION REQUIREMENTS</a:t>
            </a:r>
            <a:endParaRPr sz="1800">
              <a:solidFill>
                <a:srgbClr val="F9A5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60"/>
          <p:cNvSpPr txBox="1"/>
          <p:nvPr/>
        </p:nvSpPr>
        <p:spPr>
          <a:xfrm>
            <a:off x="4816390" y="2080079"/>
            <a:ext cx="3242400" cy="24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Description</a:t>
            </a: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Video max 3 min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Public github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➔"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How Kiro was used?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1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61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1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JUDGING CRITERIA</a:t>
            </a:r>
            <a:endParaRPr sz="1100"/>
          </a:p>
        </p:txBody>
      </p:sp>
      <p:sp>
        <p:nvSpPr>
          <p:cNvPr id="413" name="Google Shape;413;p61"/>
          <p:cNvSpPr txBox="1"/>
          <p:nvPr/>
        </p:nvSpPr>
        <p:spPr>
          <a:xfrm>
            <a:off x="457200" y="1122700"/>
            <a:ext cx="58869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A526"/>
                </a:solidFill>
              </a:rPr>
              <a:t>Potential Value</a:t>
            </a:r>
            <a:endParaRPr b="1">
              <a:solidFill>
                <a:srgbClr val="F9A5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Solves a real problem with a scalable, accessible, and user-friendly solution that meets community needs.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A526"/>
                </a:solidFill>
              </a:rPr>
              <a:t>Implementation</a:t>
            </a:r>
            <a:endParaRPr b="1">
              <a:solidFill>
                <a:srgbClr val="F9A5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Demonstrates effective and thoughtful use of Kiro, AI development strategies, and creative integrations.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</a:rPr>
              <a:t>Quality and Design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Evaluates originality, creativity, intuitive user experience, and polished design.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2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2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2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JUDGING CRITERIA</a:t>
            </a:r>
            <a:endParaRPr sz="1100"/>
          </a:p>
        </p:txBody>
      </p:sp>
      <p:sp>
        <p:nvSpPr>
          <p:cNvPr id="421" name="Google Shape;421;p62"/>
          <p:cNvSpPr txBox="1"/>
          <p:nvPr/>
        </p:nvSpPr>
        <p:spPr>
          <a:xfrm>
            <a:off x="457200" y="1122700"/>
            <a:ext cx="58869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A526"/>
                </a:solidFill>
              </a:rPr>
              <a:t>Potential Value</a:t>
            </a:r>
            <a:endParaRPr b="1">
              <a:solidFill>
                <a:srgbClr val="F9A5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Solves a real problem with a scalable, accessible, and user-friendly solution that meets community needs.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9A526"/>
                </a:solidFill>
              </a:rPr>
              <a:t>Implementation</a:t>
            </a:r>
            <a:endParaRPr b="1">
              <a:solidFill>
                <a:srgbClr val="F9A5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Demonstrates effective and thoughtful use of Kiro, AI development strategies, and creative integrations.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900"/>
                </a:solidFill>
              </a:rPr>
              <a:t>Quality and Design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Evaluates originality, creativity, intuitive user experience, and polished design.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22" name="Google Shape;42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5177" y="2503699"/>
            <a:ext cx="1824950" cy="5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2"/>
          <p:cNvSpPr txBox="1"/>
          <p:nvPr/>
        </p:nvSpPr>
        <p:spPr>
          <a:xfrm>
            <a:off x="5970097" y="2078147"/>
            <a:ext cx="166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Best use of Kiro!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63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3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63"/>
          <p:cNvSpPr/>
          <p:nvPr/>
        </p:nvSpPr>
        <p:spPr>
          <a:xfrm>
            <a:off x="390025" y="1748925"/>
            <a:ext cx="81825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BUILDING FOR KEY SECTORS IN MASSACHUSETTS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4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4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4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TRACK 1 - </a:t>
            </a:r>
            <a:r>
              <a:rPr lang="en" sz="3300">
                <a:solidFill>
                  <a:srgbClr val="F9A526"/>
                </a:solidFill>
                <a:latin typeface="Impact"/>
                <a:ea typeface="Impact"/>
                <a:cs typeface="Impact"/>
                <a:sym typeface="Impact"/>
              </a:rPr>
              <a:t>HEALTHCARE &amp; BIOTECH</a:t>
            </a:r>
            <a:endParaRPr sz="1100">
              <a:solidFill>
                <a:srgbClr val="F9A526"/>
              </a:solidFill>
            </a:endParaRPr>
          </a:p>
        </p:txBody>
      </p:sp>
      <p:sp>
        <p:nvSpPr>
          <p:cNvPr id="438" name="Google Shape;438;p64"/>
          <p:cNvSpPr txBox="1"/>
          <p:nvPr/>
        </p:nvSpPr>
        <p:spPr>
          <a:xfrm>
            <a:off x="389850" y="1456800"/>
            <a:ext cx="48024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ptos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Turning wearable data into better healthcare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ptos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Keeping residents connected to health coverage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ptos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Improving healthcare access and coordination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ptos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Accelerating biotechnology innovation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ptos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Making clinical research more accessible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65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5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5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TRACK 2 - </a:t>
            </a:r>
            <a:r>
              <a:rPr lang="en" sz="3300">
                <a:solidFill>
                  <a:srgbClr val="F9A526"/>
                </a:solidFill>
                <a:latin typeface="Impact"/>
                <a:ea typeface="Impact"/>
                <a:cs typeface="Impact"/>
                <a:sym typeface="Impact"/>
              </a:rPr>
              <a:t>ROBOTICS</a:t>
            </a:r>
            <a:endParaRPr sz="1100">
              <a:solidFill>
                <a:srgbClr val="F9A526"/>
              </a:solidFill>
            </a:endParaRPr>
          </a:p>
        </p:txBody>
      </p:sp>
      <p:sp>
        <p:nvSpPr>
          <p:cNvPr id="446" name="Google Shape;446;p65"/>
          <p:cNvSpPr txBox="1"/>
          <p:nvPr/>
        </p:nvSpPr>
        <p:spPr>
          <a:xfrm>
            <a:off x="389850" y="1456800"/>
            <a:ext cx="73512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Making automation accessible to manufacturers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Robo-Gym training environments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Real-time control for data quality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Swarm robotics for collaborative exploration and search-and-rescue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"messy desk" dynamic object sorting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Safer inspection of critical infrastructure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Path planning classifier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6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6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6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TRACK 3 - </a:t>
            </a:r>
            <a:r>
              <a:rPr lang="en" sz="3300">
                <a:solidFill>
                  <a:srgbClr val="F9A526"/>
                </a:solidFill>
                <a:latin typeface="Impact"/>
                <a:ea typeface="Impact"/>
                <a:cs typeface="Impact"/>
                <a:sym typeface="Impact"/>
              </a:rPr>
              <a:t>CLIMATE TECH</a:t>
            </a:r>
            <a:endParaRPr sz="1100">
              <a:solidFill>
                <a:srgbClr val="F9A526"/>
              </a:solidFill>
            </a:endParaRPr>
          </a:p>
        </p:txBody>
      </p:sp>
      <p:sp>
        <p:nvSpPr>
          <p:cNvPr id="454" name="Google Shape;454;p66"/>
          <p:cNvSpPr txBox="1"/>
          <p:nvPr/>
        </p:nvSpPr>
        <p:spPr>
          <a:xfrm>
            <a:off x="389850" y="1456800"/>
            <a:ext cx="48024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Resilient communities in a changing climate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Cleaner, more affordable buildings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 more reliable clean energy system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Understanding and protecting the ocean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Sustainable blue economy and coastal livelihoods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7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7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7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TRACK 4 - </a:t>
            </a:r>
            <a:r>
              <a:rPr lang="en" sz="3300">
                <a:solidFill>
                  <a:srgbClr val="F9A526"/>
                </a:solidFill>
                <a:latin typeface="Impact"/>
                <a:ea typeface="Impact"/>
                <a:cs typeface="Impact"/>
                <a:sym typeface="Impact"/>
              </a:rPr>
              <a:t>CIVIC ACTION</a:t>
            </a:r>
            <a:endParaRPr sz="1100">
              <a:solidFill>
                <a:srgbClr val="F9A526"/>
              </a:solidFill>
            </a:endParaRPr>
          </a:p>
        </p:txBody>
      </p:sp>
      <p:sp>
        <p:nvSpPr>
          <p:cNvPr id="462" name="Google Shape;462;p67"/>
          <p:cNvSpPr txBox="1"/>
          <p:nvPr/>
        </p:nvSpPr>
        <p:spPr>
          <a:xfrm>
            <a:off x="372125" y="1555800"/>
            <a:ext cx="4802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Better together: Improving where we live, work, study &amp; play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Citizen-friendly digital government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More responsive neighborhood services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➔"/>
            </a:pPr>
            <a:r>
              <a:rPr b="1"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Stronger community emergency readiness</a:t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68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8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68" title="hackachusettsrules-q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0938" y="1567416"/>
            <a:ext cx="2230725" cy="22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8"/>
          <p:cNvSpPr txBox="1"/>
          <p:nvPr/>
        </p:nvSpPr>
        <p:spPr>
          <a:xfrm>
            <a:off x="5169900" y="562465"/>
            <a:ext cx="27528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00"/>
                </a:solidFill>
              </a:rPr>
              <a:t>GUIDELINES &amp; CHALLENGES</a:t>
            </a:r>
            <a:endParaRPr sz="24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72" name="Google Shape;472;p68"/>
          <p:cNvSpPr txBox="1"/>
          <p:nvPr/>
        </p:nvSpPr>
        <p:spPr>
          <a:xfrm>
            <a:off x="716900" y="656513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FF00"/>
                </a:solidFill>
              </a:rPr>
              <a:t>ALL EVENT INFO</a:t>
            </a:r>
            <a:endParaRPr sz="2400"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id="473" name="Google Shape;473;p68" title="3yaty774-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4099" y="1560699"/>
            <a:ext cx="2230700" cy="22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8"/>
          <p:cNvSpPr txBox="1"/>
          <p:nvPr/>
        </p:nvSpPr>
        <p:spPr>
          <a:xfrm>
            <a:off x="578950" y="3888890"/>
            <a:ext cx="344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9A526"/>
                </a:solidFill>
              </a:rPr>
              <a:t>massaicoalition.com/hackachusetts</a:t>
            </a:r>
            <a:endParaRPr sz="1600">
              <a:solidFill>
                <a:srgbClr val="F9A526"/>
              </a:solidFill>
            </a:endParaRPr>
          </a:p>
        </p:txBody>
      </p:sp>
      <p:sp>
        <p:nvSpPr>
          <p:cNvPr id="475" name="Google Shape;475;p68"/>
          <p:cNvSpPr txBox="1"/>
          <p:nvPr/>
        </p:nvSpPr>
        <p:spPr>
          <a:xfrm>
            <a:off x="5065735" y="383977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9A526"/>
                </a:solidFill>
              </a:rPr>
              <a:t>SUNDAI.CLUB</a:t>
            </a:r>
            <a:endParaRPr sz="1800">
              <a:solidFill>
                <a:srgbClr val="F9A526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69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9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9"/>
          <p:cNvSpPr/>
          <p:nvPr/>
        </p:nvSpPr>
        <p:spPr>
          <a:xfrm>
            <a:off x="1033506" y="2018348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HOW TO USE                      ?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83" name="Google Shape;483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131" y="1994347"/>
            <a:ext cx="2406615" cy="7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70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70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0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LET’S HACK!</a:t>
            </a:r>
            <a:endParaRPr sz="1100"/>
          </a:p>
        </p:txBody>
      </p:sp>
      <p:pic>
        <p:nvPicPr>
          <p:cNvPr id="491" name="Google Shape;491;p70" title="Eric Paley Background Remov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50" y="1285050"/>
            <a:ext cx="3858449" cy="3858449"/>
          </a:xfrm>
          <a:prstGeom prst="rect">
            <a:avLst/>
          </a:prstGeom>
          <a:solidFill>
            <a:srgbClr val="080B0D"/>
          </a:solidFill>
          <a:ln>
            <a:noFill/>
          </a:ln>
        </p:spPr>
      </p:pic>
      <p:sp>
        <p:nvSpPr>
          <p:cNvPr id="492" name="Google Shape;492;p70"/>
          <p:cNvSpPr txBox="1"/>
          <p:nvPr/>
        </p:nvSpPr>
        <p:spPr>
          <a:xfrm>
            <a:off x="4218225" y="2041725"/>
            <a:ext cx="41382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Eric Paley</a:t>
            </a:r>
            <a:endParaRPr b="1" sz="28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Secretary of Economic Development</a:t>
            </a:r>
            <a:endParaRPr b="1" sz="18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Commonwealth MA</a:t>
            </a:r>
            <a:endParaRPr b="1" sz="1800">
              <a:solidFill>
                <a:schemeClr val="lt1"/>
              </a:solidFill>
              <a:highlight>
                <a:schemeClr val="dk1"/>
              </a:highlight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71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71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1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LET’S HACK!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72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2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2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LET’S HACK!</a:t>
            </a:r>
            <a:endParaRPr sz="1100"/>
          </a:p>
        </p:txBody>
      </p:sp>
      <p:pic>
        <p:nvPicPr>
          <p:cNvPr id="507" name="Google Shape;507;p72" title="Eric Paley Background Remov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50" y="1285050"/>
            <a:ext cx="3858449" cy="3858449"/>
          </a:xfrm>
          <a:prstGeom prst="rect">
            <a:avLst/>
          </a:prstGeom>
          <a:solidFill>
            <a:srgbClr val="080B0D"/>
          </a:solidFill>
          <a:ln>
            <a:noFill/>
          </a:ln>
        </p:spPr>
      </p:pic>
      <p:sp>
        <p:nvSpPr>
          <p:cNvPr id="508" name="Google Shape;508;p72"/>
          <p:cNvSpPr txBox="1"/>
          <p:nvPr/>
        </p:nvSpPr>
        <p:spPr>
          <a:xfrm>
            <a:off x="4218225" y="2041725"/>
            <a:ext cx="41382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Eric Paley</a:t>
            </a:r>
            <a:endParaRPr b="1" sz="28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Secretary of Economic Development</a:t>
            </a:r>
            <a:endParaRPr b="1" sz="180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Commonwealth MA</a:t>
            </a:r>
            <a:endParaRPr b="1" sz="1800">
              <a:solidFill>
                <a:schemeClr val="lt1"/>
              </a:solidFill>
              <a:highlight>
                <a:schemeClr val="dk1"/>
              </a:highlight>
              <a:uFill>
                <a:noFill/>
              </a:uFill>
              <a:latin typeface="Roboto"/>
              <a:ea typeface="Roboto"/>
              <a:cs typeface="Roboto"/>
              <a:sym typeface="Roboto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73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251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73"/>
          <p:cNvSpPr/>
          <p:nvPr/>
        </p:nvSpPr>
        <p:spPr>
          <a:xfrm>
            <a:off x="0" y="839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3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sp>
        <p:nvSpPr>
          <p:cNvPr id="516" name="Google Shape;516;p73"/>
          <p:cNvSpPr txBox="1"/>
          <p:nvPr/>
        </p:nvSpPr>
        <p:spPr>
          <a:xfrm>
            <a:off x="812778" y="2498261"/>
            <a:ext cx="2669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Join a track for brainstorming</a:t>
            </a:r>
            <a:endParaRPr b="1" i="1" sz="1800">
              <a:solidFill>
                <a:srgbClr val="808080"/>
              </a:solidFill>
            </a:endParaRPr>
          </a:p>
        </p:txBody>
      </p:sp>
      <p:sp>
        <p:nvSpPr>
          <p:cNvPr id="517" name="Google Shape;517;p73"/>
          <p:cNvSpPr txBox="1"/>
          <p:nvPr/>
        </p:nvSpPr>
        <p:spPr>
          <a:xfrm>
            <a:off x="385770" y="2524761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2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18" name="Google Shape;518;p73"/>
          <p:cNvSpPr txBox="1"/>
          <p:nvPr/>
        </p:nvSpPr>
        <p:spPr>
          <a:xfrm>
            <a:off x="743725" y="3607016"/>
            <a:ext cx="260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1 min p</a:t>
            </a:r>
            <a:r>
              <a:rPr b="1" i="1" lang="en" sz="1800">
                <a:solidFill>
                  <a:srgbClr val="808080"/>
                </a:solidFill>
              </a:rPr>
              <a:t>itch your idea </a:t>
            </a:r>
            <a:endParaRPr b="1" i="1" sz="1800"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and /or find a team</a:t>
            </a:r>
            <a:endParaRPr b="1" i="1" sz="1800">
              <a:solidFill>
                <a:srgbClr val="808080"/>
              </a:solidFill>
            </a:endParaRPr>
          </a:p>
        </p:txBody>
      </p:sp>
      <p:sp>
        <p:nvSpPr>
          <p:cNvPr id="519" name="Google Shape;519;p73"/>
          <p:cNvSpPr txBox="1"/>
          <p:nvPr/>
        </p:nvSpPr>
        <p:spPr>
          <a:xfrm>
            <a:off x="336708" y="3613916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3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20" name="Google Shape;520;p73"/>
          <p:cNvSpPr txBox="1"/>
          <p:nvPr/>
        </p:nvSpPr>
        <p:spPr>
          <a:xfrm>
            <a:off x="370288" y="1367158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chemeClr val="lt1"/>
                </a:solidFill>
              </a:rPr>
              <a:t>1</a:t>
            </a:r>
            <a:endParaRPr b="1" i="1" sz="3100">
              <a:solidFill>
                <a:schemeClr val="lt1"/>
              </a:solidFill>
            </a:endParaRPr>
          </a:p>
        </p:txBody>
      </p:sp>
      <p:sp>
        <p:nvSpPr>
          <p:cNvPr id="521" name="Google Shape;521;p73"/>
          <p:cNvSpPr txBox="1"/>
          <p:nvPr/>
        </p:nvSpPr>
        <p:spPr>
          <a:xfrm>
            <a:off x="786175" y="1288750"/>
            <a:ext cx="2816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Read challenges &amp; submit a short description of your idea</a:t>
            </a:r>
            <a:endParaRPr b="1" i="1" sz="1800">
              <a:solidFill>
                <a:srgbClr val="FF9900"/>
              </a:solidFill>
            </a:endParaRPr>
          </a:p>
        </p:txBody>
      </p:sp>
      <p:pic>
        <p:nvPicPr>
          <p:cNvPr id="522" name="Google Shape;522;p73" title="Screenshot 2026-10-24 at 12.49.4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550" y="1193634"/>
            <a:ext cx="2149299" cy="3555225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74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251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4"/>
          <p:cNvSpPr/>
          <p:nvPr/>
        </p:nvSpPr>
        <p:spPr>
          <a:xfrm>
            <a:off x="0" y="839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4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sp>
        <p:nvSpPr>
          <p:cNvPr id="530" name="Google Shape;530;p74"/>
          <p:cNvSpPr txBox="1"/>
          <p:nvPr/>
        </p:nvSpPr>
        <p:spPr>
          <a:xfrm>
            <a:off x="812778" y="2506658"/>
            <a:ext cx="2669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Join a track for brainstorming</a:t>
            </a:r>
            <a:endParaRPr b="1" i="1" sz="1800">
              <a:solidFill>
                <a:srgbClr val="FF9900"/>
              </a:solidFill>
            </a:endParaRPr>
          </a:p>
        </p:txBody>
      </p:sp>
      <p:sp>
        <p:nvSpPr>
          <p:cNvPr id="531" name="Google Shape;531;p74"/>
          <p:cNvSpPr txBox="1"/>
          <p:nvPr/>
        </p:nvSpPr>
        <p:spPr>
          <a:xfrm>
            <a:off x="385770" y="2533158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chemeClr val="lt1"/>
                </a:solidFill>
              </a:rPr>
              <a:t>2</a:t>
            </a:r>
            <a:endParaRPr b="1" i="1" sz="3100">
              <a:solidFill>
                <a:schemeClr val="lt1"/>
              </a:solidFill>
            </a:endParaRPr>
          </a:p>
        </p:txBody>
      </p:sp>
      <p:sp>
        <p:nvSpPr>
          <p:cNvPr id="532" name="Google Shape;532;p74"/>
          <p:cNvSpPr txBox="1"/>
          <p:nvPr/>
        </p:nvSpPr>
        <p:spPr>
          <a:xfrm>
            <a:off x="743725" y="3615413"/>
            <a:ext cx="260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1 min p</a:t>
            </a:r>
            <a:r>
              <a:rPr b="1" i="1" lang="en" sz="1800">
                <a:solidFill>
                  <a:srgbClr val="808080"/>
                </a:solidFill>
              </a:rPr>
              <a:t>itch your idea </a:t>
            </a:r>
            <a:endParaRPr b="1" i="1" sz="1800"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and /or find a team</a:t>
            </a:r>
            <a:endParaRPr b="1" i="1" sz="1800">
              <a:solidFill>
                <a:srgbClr val="808080"/>
              </a:solidFill>
            </a:endParaRPr>
          </a:p>
        </p:txBody>
      </p:sp>
      <p:sp>
        <p:nvSpPr>
          <p:cNvPr id="533" name="Google Shape;533;p74"/>
          <p:cNvSpPr txBox="1"/>
          <p:nvPr/>
        </p:nvSpPr>
        <p:spPr>
          <a:xfrm>
            <a:off x="336708" y="3622313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3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34" name="Google Shape;534;p74"/>
          <p:cNvSpPr txBox="1"/>
          <p:nvPr/>
        </p:nvSpPr>
        <p:spPr>
          <a:xfrm>
            <a:off x="370288" y="1367158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1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35" name="Google Shape;535;p74"/>
          <p:cNvSpPr txBox="1"/>
          <p:nvPr/>
        </p:nvSpPr>
        <p:spPr>
          <a:xfrm>
            <a:off x="786175" y="1288750"/>
            <a:ext cx="2824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800">
                <a:solidFill>
                  <a:srgbClr val="808080"/>
                </a:solidFill>
              </a:rPr>
              <a:t>Read challenges &amp; submit a short description of your idea</a:t>
            </a:r>
            <a:endParaRPr b="1" i="1" sz="1800"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808080"/>
              </a:solidFill>
            </a:endParaRPr>
          </a:p>
        </p:txBody>
      </p:sp>
      <p:pic>
        <p:nvPicPr>
          <p:cNvPr id="536" name="Google Shape;536;p74" title="Screenshot 2026-10-23 at 1.50.19 PM.png"/>
          <p:cNvPicPr preferRelativeResize="0"/>
          <p:nvPr/>
        </p:nvPicPr>
        <p:blipFill rotWithShape="1">
          <a:blip r:embed="rId4">
            <a:alphaModFix/>
          </a:blip>
          <a:srcRect b="18936" l="0" r="0" t="0"/>
          <a:stretch/>
        </p:blipFill>
        <p:spPr>
          <a:xfrm>
            <a:off x="4313950" y="1493274"/>
            <a:ext cx="3740800" cy="2645713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7" name="Google Shape;537;p74"/>
          <p:cNvSpPr/>
          <p:nvPr/>
        </p:nvSpPr>
        <p:spPr>
          <a:xfrm>
            <a:off x="4444824" y="2273650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ROBOTICS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74"/>
          <p:cNvSpPr/>
          <p:nvPr/>
        </p:nvSpPr>
        <p:spPr>
          <a:xfrm>
            <a:off x="6581975" y="2273975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HEALTHCARE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74"/>
          <p:cNvSpPr/>
          <p:nvPr/>
        </p:nvSpPr>
        <p:spPr>
          <a:xfrm>
            <a:off x="4439328" y="3250475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CLIMATE TECH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74"/>
          <p:cNvSpPr/>
          <p:nvPr/>
        </p:nvSpPr>
        <p:spPr>
          <a:xfrm>
            <a:off x="6576479" y="3250800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CIVIC ACTION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75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251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5"/>
          <p:cNvSpPr/>
          <p:nvPr/>
        </p:nvSpPr>
        <p:spPr>
          <a:xfrm>
            <a:off x="0" y="839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5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sp>
        <p:nvSpPr>
          <p:cNvPr id="548" name="Google Shape;548;p75"/>
          <p:cNvSpPr txBox="1"/>
          <p:nvPr/>
        </p:nvSpPr>
        <p:spPr>
          <a:xfrm>
            <a:off x="812778" y="2431088"/>
            <a:ext cx="2669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Join a track for brainstorming</a:t>
            </a:r>
            <a:endParaRPr b="1" i="1" sz="1800">
              <a:solidFill>
                <a:srgbClr val="808080"/>
              </a:solidFill>
            </a:endParaRPr>
          </a:p>
        </p:txBody>
      </p:sp>
      <p:sp>
        <p:nvSpPr>
          <p:cNvPr id="549" name="Google Shape;549;p75"/>
          <p:cNvSpPr txBox="1"/>
          <p:nvPr/>
        </p:nvSpPr>
        <p:spPr>
          <a:xfrm>
            <a:off x="385770" y="2457587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2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50" name="Google Shape;550;p75"/>
          <p:cNvSpPr txBox="1"/>
          <p:nvPr/>
        </p:nvSpPr>
        <p:spPr>
          <a:xfrm>
            <a:off x="743725" y="3455876"/>
            <a:ext cx="260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1 min p</a:t>
            </a:r>
            <a:r>
              <a:rPr b="1" i="1" lang="en" sz="1800">
                <a:solidFill>
                  <a:srgbClr val="FF9900"/>
                </a:solidFill>
              </a:rPr>
              <a:t>itch your idea </a:t>
            </a:r>
            <a:endParaRPr b="1" i="1"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and /or find a team using the </a:t>
            </a:r>
            <a:endParaRPr b="1" i="1" sz="1800">
              <a:solidFill>
                <a:srgbClr val="FF9900"/>
              </a:solidFill>
            </a:endParaRPr>
          </a:p>
        </p:txBody>
      </p:sp>
      <p:sp>
        <p:nvSpPr>
          <p:cNvPr id="551" name="Google Shape;551;p75"/>
          <p:cNvSpPr txBox="1"/>
          <p:nvPr/>
        </p:nvSpPr>
        <p:spPr>
          <a:xfrm>
            <a:off x="336708" y="3462776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chemeClr val="lt1"/>
                </a:solidFill>
              </a:rPr>
              <a:t>3</a:t>
            </a:r>
            <a:endParaRPr b="1" i="1" sz="3100">
              <a:solidFill>
                <a:schemeClr val="lt1"/>
              </a:solidFill>
            </a:endParaRPr>
          </a:p>
        </p:txBody>
      </p:sp>
      <p:sp>
        <p:nvSpPr>
          <p:cNvPr id="552" name="Google Shape;552;p75"/>
          <p:cNvSpPr txBox="1"/>
          <p:nvPr/>
        </p:nvSpPr>
        <p:spPr>
          <a:xfrm>
            <a:off x="370288" y="1367158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1</a:t>
            </a:r>
            <a:endParaRPr b="1" i="1" sz="3100">
              <a:solidFill>
                <a:srgbClr val="808080"/>
              </a:solidFill>
            </a:endParaRPr>
          </a:p>
        </p:txBody>
      </p:sp>
      <p:pic>
        <p:nvPicPr>
          <p:cNvPr descr="no background, just the people" id="553" name="Google Shape;553;p75"/>
          <p:cNvPicPr preferRelativeResize="0"/>
          <p:nvPr/>
        </p:nvPicPr>
        <p:blipFill rotWithShape="1">
          <a:blip r:embed="rId4">
            <a:alphaModFix/>
          </a:blip>
          <a:srcRect b="0" l="0" r="0" t="15175"/>
          <a:stretch/>
        </p:blipFill>
        <p:spPr>
          <a:xfrm>
            <a:off x="4725750" y="1360613"/>
            <a:ext cx="3145925" cy="2668625"/>
          </a:xfrm>
          <a:prstGeom prst="rect">
            <a:avLst/>
          </a:prstGeom>
          <a:noFill/>
          <a:ln cap="flat" cmpd="sng" w="28575">
            <a:solidFill>
              <a:srgbClr val="F9A52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4" name="Google Shape;554;p75"/>
          <p:cNvSpPr txBox="1"/>
          <p:nvPr/>
        </p:nvSpPr>
        <p:spPr>
          <a:xfrm>
            <a:off x="786175" y="1288750"/>
            <a:ext cx="2824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Read challenges &amp; submit a short description of your idea</a:t>
            </a:r>
            <a:endParaRPr b="1" i="1" sz="1800"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80808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76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251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6"/>
          <p:cNvSpPr/>
          <p:nvPr/>
        </p:nvSpPr>
        <p:spPr>
          <a:xfrm>
            <a:off x="0" y="839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76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sp>
        <p:nvSpPr>
          <p:cNvPr id="562" name="Google Shape;562;p76"/>
          <p:cNvSpPr txBox="1"/>
          <p:nvPr/>
        </p:nvSpPr>
        <p:spPr>
          <a:xfrm>
            <a:off x="812778" y="2422691"/>
            <a:ext cx="26691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808080"/>
                </a:solidFill>
              </a:rPr>
              <a:t>Join a track for brainstorming</a:t>
            </a:r>
            <a:endParaRPr b="1" i="1" sz="1800">
              <a:solidFill>
                <a:srgbClr val="808080"/>
              </a:solidFill>
            </a:endParaRPr>
          </a:p>
        </p:txBody>
      </p:sp>
      <p:sp>
        <p:nvSpPr>
          <p:cNvPr id="563" name="Google Shape;563;p76"/>
          <p:cNvSpPr txBox="1"/>
          <p:nvPr/>
        </p:nvSpPr>
        <p:spPr>
          <a:xfrm>
            <a:off x="385770" y="2449191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2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64" name="Google Shape;564;p76"/>
          <p:cNvSpPr txBox="1"/>
          <p:nvPr/>
        </p:nvSpPr>
        <p:spPr>
          <a:xfrm>
            <a:off x="743725" y="3455876"/>
            <a:ext cx="2608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1 min p</a:t>
            </a:r>
            <a:r>
              <a:rPr b="1" i="1" lang="en" sz="1800">
                <a:solidFill>
                  <a:srgbClr val="FF9900"/>
                </a:solidFill>
              </a:rPr>
              <a:t>itch your idea </a:t>
            </a:r>
            <a:endParaRPr b="1" i="1" sz="18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9900"/>
                </a:solidFill>
              </a:rPr>
              <a:t>and /or find a team using the </a:t>
            </a:r>
            <a:endParaRPr b="1" i="1" sz="1800">
              <a:solidFill>
                <a:srgbClr val="FF9900"/>
              </a:solidFill>
            </a:endParaRPr>
          </a:p>
        </p:txBody>
      </p:sp>
      <p:sp>
        <p:nvSpPr>
          <p:cNvPr id="565" name="Google Shape;565;p76"/>
          <p:cNvSpPr txBox="1"/>
          <p:nvPr/>
        </p:nvSpPr>
        <p:spPr>
          <a:xfrm>
            <a:off x="336708" y="3462776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chemeClr val="lt1"/>
                </a:solidFill>
              </a:rPr>
              <a:t>3</a:t>
            </a:r>
            <a:endParaRPr b="1" i="1" sz="3100">
              <a:solidFill>
                <a:schemeClr val="lt1"/>
              </a:solidFill>
            </a:endParaRPr>
          </a:p>
        </p:txBody>
      </p:sp>
      <p:sp>
        <p:nvSpPr>
          <p:cNvPr id="566" name="Google Shape;566;p76"/>
          <p:cNvSpPr txBox="1"/>
          <p:nvPr/>
        </p:nvSpPr>
        <p:spPr>
          <a:xfrm>
            <a:off x="370288" y="1367158"/>
            <a:ext cx="399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808080"/>
                </a:solidFill>
              </a:rPr>
              <a:t>1</a:t>
            </a:r>
            <a:endParaRPr b="1" i="1" sz="3100">
              <a:solidFill>
                <a:srgbClr val="808080"/>
              </a:solidFill>
            </a:endParaRPr>
          </a:p>
        </p:txBody>
      </p:sp>
      <p:sp>
        <p:nvSpPr>
          <p:cNvPr id="567" name="Google Shape;567;p76"/>
          <p:cNvSpPr txBox="1"/>
          <p:nvPr/>
        </p:nvSpPr>
        <p:spPr>
          <a:xfrm>
            <a:off x="786175" y="1288750"/>
            <a:ext cx="2790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800">
                <a:solidFill>
                  <a:srgbClr val="808080"/>
                </a:solidFill>
              </a:rPr>
              <a:t>Read challenges &amp; submit a short description of your idea</a:t>
            </a:r>
            <a:endParaRPr b="1" i="1" sz="1800">
              <a:solidFill>
                <a:srgbClr val="80808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808080"/>
              </a:solidFill>
            </a:endParaRPr>
          </a:p>
        </p:txBody>
      </p:sp>
      <p:pic>
        <p:nvPicPr>
          <p:cNvPr descr="no background, just the people" id="568" name="Google Shape;568;p76"/>
          <p:cNvPicPr preferRelativeResize="0"/>
          <p:nvPr/>
        </p:nvPicPr>
        <p:blipFill rotWithShape="1">
          <a:blip r:embed="rId4">
            <a:alphaModFix/>
          </a:blip>
          <a:srcRect b="0" l="0" r="0" t="15175"/>
          <a:stretch/>
        </p:blipFill>
        <p:spPr>
          <a:xfrm>
            <a:off x="4725750" y="1360613"/>
            <a:ext cx="3145925" cy="2668625"/>
          </a:xfrm>
          <a:prstGeom prst="rect">
            <a:avLst/>
          </a:prstGeom>
          <a:noFill/>
          <a:ln cap="flat" cmpd="sng" w="28575">
            <a:solidFill>
              <a:srgbClr val="F9A52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B0D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77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-1352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7"/>
          <p:cNvSpPr/>
          <p:nvPr/>
        </p:nvSpPr>
        <p:spPr>
          <a:xfrm>
            <a:off x="0" y="-13527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7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SCHEDULE</a:t>
            </a:r>
            <a:endParaRPr sz="1100"/>
          </a:p>
        </p:txBody>
      </p:sp>
      <p:sp>
        <p:nvSpPr>
          <p:cNvPr id="577" name="Google Shape;577;p77"/>
          <p:cNvSpPr/>
          <p:nvPr/>
        </p:nvSpPr>
        <p:spPr>
          <a:xfrm>
            <a:off x="471488" y="1034783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08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:00</a:t>
            </a:r>
            <a:r>
              <a:rPr b="1" lang="en">
                <a:solidFill>
                  <a:srgbClr val="00BDEB"/>
                </a:solidFill>
              </a:rPr>
              <a:t>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 AM</a:t>
            </a:r>
            <a:endParaRPr sz="900"/>
          </a:p>
        </p:txBody>
      </p:sp>
      <p:sp>
        <p:nvSpPr>
          <p:cNvPr id="578" name="Google Shape;578;p77"/>
          <p:cNvSpPr/>
          <p:nvPr/>
        </p:nvSpPr>
        <p:spPr>
          <a:xfrm>
            <a:off x="3071813" y="103478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Registration &amp; breakfast</a:t>
            </a:r>
            <a:endParaRPr sz="900"/>
          </a:p>
        </p:txBody>
      </p:sp>
      <p:sp>
        <p:nvSpPr>
          <p:cNvPr id="579" name="Google Shape;579;p77"/>
          <p:cNvSpPr/>
          <p:nvPr/>
        </p:nvSpPr>
        <p:spPr>
          <a:xfrm>
            <a:off x="471488" y="1418792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AM</a:t>
            </a:r>
            <a:endParaRPr sz="900"/>
          </a:p>
        </p:txBody>
      </p:sp>
      <p:sp>
        <p:nvSpPr>
          <p:cNvPr id="580" name="Google Shape;580;p77"/>
          <p:cNvSpPr/>
          <p:nvPr/>
        </p:nvSpPr>
        <p:spPr>
          <a:xfrm>
            <a:off x="3071813" y="141879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Welcome!</a:t>
            </a:r>
            <a:endParaRPr sz="900"/>
          </a:p>
        </p:txBody>
      </p:sp>
      <p:sp>
        <p:nvSpPr>
          <p:cNvPr id="581" name="Google Shape;581;p77"/>
          <p:cNvSpPr/>
          <p:nvPr/>
        </p:nvSpPr>
        <p:spPr>
          <a:xfrm>
            <a:off x="471488" y="1825564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30 - 09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40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A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900"/>
          </a:p>
        </p:txBody>
      </p:sp>
      <p:sp>
        <p:nvSpPr>
          <p:cNvPr id="582" name="Google Shape;582;p77"/>
          <p:cNvSpPr/>
          <p:nvPr/>
        </p:nvSpPr>
        <p:spPr>
          <a:xfrm>
            <a:off x="3071813" y="188644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AI News</a:t>
            </a:r>
            <a:endParaRPr sz="900"/>
          </a:p>
        </p:txBody>
      </p:sp>
      <p:sp>
        <p:nvSpPr>
          <p:cNvPr id="583" name="Google Shape;583;p77"/>
          <p:cNvSpPr/>
          <p:nvPr/>
        </p:nvSpPr>
        <p:spPr>
          <a:xfrm>
            <a:off x="464724" y="2242099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09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4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">
                <a:solidFill>
                  <a:srgbClr val="00BDEB"/>
                </a:solidFill>
              </a:rPr>
              <a:t> - 10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0 AM</a:t>
            </a:r>
            <a:endParaRPr sz="900"/>
          </a:p>
        </p:txBody>
      </p:sp>
      <p:sp>
        <p:nvSpPr>
          <p:cNvPr id="584" name="Google Shape;584;p77"/>
          <p:cNvSpPr/>
          <p:nvPr/>
        </p:nvSpPr>
        <p:spPr>
          <a:xfrm>
            <a:off x="3065049" y="2242099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Hackachusetts Playbook: Challenges &amp; Guidelines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585" name="Google Shape;585;p77"/>
          <p:cNvSpPr/>
          <p:nvPr/>
        </p:nvSpPr>
        <p:spPr>
          <a:xfrm>
            <a:off x="464724" y="2650120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AM</a:t>
            </a:r>
            <a:endParaRPr sz="900"/>
          </a:p>
        </p:txBody>
      </p:sp>
      <p:sp>
        <p:nvSpPr>
          <p:cNvPr id="586" name="Google Shape;586;p77"/>
          <p:cNvSpPr/>
          <p:nvPr/>
        </p:nvSpPr>
        <p:spPr>
          <a:xfrm>
            <a:off x="3065049" y="2650120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How to use Kiro?</a:t>
            </a:r>
            <a:endParaRPr sz="900"/>
          </a:p>
        </p:txBody>
      </p:sp>
      <p:sp>
        <p:nvSpPr>
          <p:cNvPr id="587" name="Google Shape;587;p77"/>
          <p:cNvSpPr/>
          <p:nvPr/>
        </p:nvSpPr>
        <p:spPr>
          <a:xfrm>
            <a:off x="464724" y="3064897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30 - 11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30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A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900"/>
          </a:p>
        </p:txBody>
      </p:sp>
      <p:sp>
        <p:nvSpPr>
          <p:cNvPr id="588" name="Google Shape;588;p77"/>
          <p:cNvSpPr/>
          <p:nvPr/>
        </p:nvSpPr>
        <p:spPr>
          <a:xfrm>
            <a:off x="3065049" y="3064905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Hack kick off! Idea pitching &amp; finding my team</a:t>
            </a:r>
            <a:endParaRPr sz="900"/>
          </a:p>
        </p:txBody>
      </p:sp>
      <p:sp>
        <p:nvSpPr>
          <p:cNvPr id="589" name="Google Shape;589;p77"/>
          <p:cNvSpPr/>
          <p:nvPr/>
        </p:nvSpPr>
        <p:spPr>
          <a:xfrm>
            <a:off x="464724" y="3481432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12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:00</a:t>
            </a:r>
            <a:r>
              <a:rPr b="1" lang="en">
                <a:solidFill>
                  <a:srgbClr val="00BDEB"/>
                </a:solidFill>
              </a:rPr>
              <a:t> - 1:00 PM</a:t>
            </a:r>
            <a:endParaRPr sz="900"/>
          </a:p>
        </p:txBody>
      </p:sp>
      <p:sp>
        <p:nvSpPr>
          <p:cNvPr id="590" name="Google Shape;590;p77"/>
          <p:cNvSpPr/>
          <p:nvPr/>
        </p:nvSpPr>
        <p:spPr>
          <a:xfrm>
            <a:off x="3065049" y="3481432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Lunch</a:t>
            </a:r>
            <a:endParaRPr sz="900"/>
          </a:p>
        </p:txBody>
      </p:sp>
      <p:sp>
        <p:nvSpPr>
          <p:cNvPr id="591" name="Google Shape;591;p77"/>
          <p:cNvSpPr/>
          <p:nvPr/>
        </p:nvSpPr>
        <p:spPr>
          <a:xfrm>
            <a:off x="464724" y="3889453"/>
            <a:ext cx="24288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BDEB"/>
                </a:solidFill>
              </a:rPr>
              <a:t>05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00 - 06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00BDEB"/>
                </a:solidFill>
              </a:rPr>
              <a:t>00</a:t>
            </a:r>
            <a:r>
              <a:rPr b="1" lang="en">
                <a:solidFill>
                  <a:srgbClr val="00BDE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BDEB"/>
                </a:solidFill>
              </a:rPr>
              <a:t>PM</a:t>
            </a:r>
            <a:endParaRPr sz="900"/>
          </a:p>
        </p:txBody>
      </p:sp>
      <p:sp>
        <p:nvSpPr>
          <p:cNvPr id="592" name="Google Shape;592;p77"/>
          <p:cNvSpPr/>
          <p:nvPr/>
        </p:nvSpPr>
        <p:spPr>
          <a:xfrm>
            <a:off x="3065049" y="388945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Dinner</a:t>
            </a:r>
            <a:endParaRPr sz="900"/>
          </a:p>
        </p:txBody>
      </p:sp>
      <p:sp>
        <p:nvSpPr>
          <p:cNvPr id="593" name="Google Shape;593;p77"/>
          <p:cNvSpPr/>
          <p:nvPr/>
        </p:nvSpPr>
        <p:spPr>
          <a:xfrm>
            <a:off x="471500" y="4322000"/>
            <a:ext cx="13695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232"/>
                </a:solidFill>
              </a:rPr>
              <a:t>08</a:t>
            </a:r>
            <a:r>
              <a:rPr b="1" lang="en">
                <a:solidFill>
                  <a:srgbClr val="FFD23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">
                <a:solidFill>
                  <a:srgbClr val="FFD232"/>
                </a:solidFill>
              </a:rPr>
              <a:t>00 PM</a:t>
            </a:r>
            <a:endParaRPr sz="900">
              <a:solidFill>
                <a:srgbClr val="FFD232"/>
              </a:solidFill>
            </a:endParaRPr>
          </a:p>
        </p:txBody>
      </p:sp>
      <p:sp>
        <p:nvSpPr>
          <p:cNvPr id="594" name="Google Shape;594;p77"/>
          <p:cNvSpPr/>
          <p:nvPr/>
        </p:nvSpPr>
        <p:spPr>
          <a:xfrm>
            <a:off x="3071824" y="4322003"/>
            <a:ext cx="5215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D232"/>
                </a:solidFill>
              </a:rPr>
              <a:t>SUBMISSION DEADLINE</a:t>
            </a:r>
            <a:endParaRPr sz="900">
              <a:solidFill>
                <a:srgbClr val="FFD23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78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251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78"/>
          <p:cNvSpPr/>
          <p:nvPr/>
        </p:nvSpPr>
        <p:spPr>
          <a:xfrm>
            <a:off x="0" y="8400"/>
            <a:ext cx="8572500" cy="5197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8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pic>
        <p:nvPicPr>
          <p:cNvPr descr="a cartoon bunny says may the chaos commence in front of fire (Provided by Tenor)" id="602" name="Google Shape;602;p78"/>
          <p:cNvPicPr preferRelativeResize="0"/>
          <p:nvPr/>
        </p:nvPicPr>
        <p:blipFill rotWithShape="1">
          <a:blip r:embed="rId4">
            <a:alphaModFix/>
          </a:blip>
          <a:srcRect b="-2743" l="0" r="0" t="0"/>
          <a:stretch/>
        </p:blipFill>
        <p:spPr>
          <a:xfrm>
            <a:off x="1931750" y="1071775"/>
            <a:ext cx="5141750" cy="383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79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79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9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READ CHALLENGES &amp; SUBMIT IDEAS</a:t>
            </a:r>
            <a:endParaRPr sz="1100"/>
          </a:p>
        </p:txBody>
      </p:sp>
      <p:sp>
        <p:nvSpPr>
          <p:cNvPr id="610" name="Google Shape;610;p79"/>
          <p:cNvSpPr txBox="1"/>
          <p:nvPr/>
        </p:nvSpPr>
        <p:spPr>
          <a:xfrm>
            <a:off x="498775" y="1233300"/>
            <a:ext cx="3613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FF9900"/>
              </a:solidFill>
            </a:endParaRPr>
          </a:p>
        </p:txBody>
      </p:sp>
      <p:pic>
        <p:nvPicPr>
          <p:cNvPr id="611" name="Google Shape;611;p79" title="Screenshot 2026-10-24 at 8.34.2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675" y="1233306"/>
            <a:ext cx="3205601" cy="322676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9"/>
          <p:cNvSpPr txBox="1"/>
          <p:nvPr/>
        </p:nvSpPr>
        <p:spPr>
          <a:xfrm>
            <a:off x="498775" y="2281775"/>
            <a:ext cx="375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FF00"/>
                </a:solidFill>
              </a:rPr>
              <a:t>tinyurl.com/submitideahack</a:t>
            </a:r>
            <a:endParaRPr sz="23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80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80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80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FORM</a:t>
            </a:r>
            <a:endParaRPr sz="1100"/>
          </a:p>
        </p:txBody>
      </p:sp>
      <p:sp>
        <p:nvSpPr>
          <p:cNvPr id="620" name="Google Shape;620;p80"/>
          <p:cNvSpPr txBox="1"/>
          <p:nvPr/>
        </p:nvSpPr>
        <p:spPr>
          <a:xfrm>
            <a:off x="498775" y="1233300"/>
            <a:ext cx="3613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FF9900"/>
              </a:solidFill>
            </a:endParaRPr>
          </a:p>
        </p:txBody>
      </p:sp>
      <p:pic>
        <p:nvPicPr>
          <p:cNvPr id="621" name="Google Shape;621;p80" title="Screenshot 2026-10-24 at 8.45.5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563" y="1544000"/>
            <a:ext cx="27336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81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81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1"/>
          <p:cNvSpPr/>
          <p:nvPr/>
        </p:nvSpPr>
        <p:spPr>
          <a:xfrm>
            <a:off x="457200" y="321469"/>
            <a:ext cx="77151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IDEA PITCHING &amp; FINDING MY TEAM</a:t>
            </a:r>
            <a:endParaRPr sz="1100"/>
          </a:p>
        </p:txBody>
      </p:sp>
      <p:sp>
        <p:nvSpPr>
          <p:cNvPr id="629" name="Google Shape;629;p81"/>
          <p:cNvSpPr txBox="1"/>
          <p:nvPr/>
        </p:nvSpPr>
        <p:spPr>
          <a:xfrm>
            <a:off x="540775" y="1409625"/>
            <a:ext cx="3613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9900"/>
                </a:solidFill>
              </a:rPr>
              <a:t>2. Check other ideas</a:t>
            </a:r>
            <a:endParaRPr i="1" sz="1800">
              <a:solidFill>
                <a:srgbClr val="FF9900"/>
              </a:solidFill>
            </a:endParaRPr>
          </a:p>
        </p:txBody>
      </p:sp>
      <p:sp>
        <p:nvSpPr>
          <p:cNvPr id="630" name="Google Shape;630;p81"/>
          <p:cNvSpPr txBox="1"/>
          <p:nvPr/>
        </p:nvSpPr>
        <p:spPr>
          <a:xfrm>
            <a:off x="4751300" y="1409625"/>
            <a:ext cx="36135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9900"/>
                </a:solidFill>
              </a:rPr>
              <a:t>3</a:t>
            </a:r>
            <a:r>
              <a:rPr i="1" lang="en" sz="1800">
                <a:solidFill>
                  <a:srgbClr val="FF9900"/>
                </a:solidFill>
              </a:rPr>
              <a:t>. Join a track a pitch </a:t>
            </a:r>
            <a:endParaRPr i="1" sz="1800">
              <a:solidFill>
                <a:srgbClr val="FF9900"/>
              </a:solidFill>
            </a:endParaRPr>
          </a:p>
        </p:txBody>
      </p:sp>
      <p:pic>
        <p:nvPicPr>
          <p:cNvPr id="631" name="Google Shape;631;p81" title="Screenshot 2026-10-23 at 1.50.19 PM.png"/>
          <p:cNvPicPr preferRelativeResize="0"/>
          <p:nvPr/>
        </p:nvPicPr>
        <p:blipFill rotWithShape="1">
          <a:blip r:embed="rId4">
            <a:alphaModFix/>
          </a:blip>
          <a:srcRect b="18936" l="0" r="0" t="0"/>
          <a:stretch/>
        </p:blipFill>
        <p:spPr>
          <a:xfrm>
            <a:off x="4431500" y="1997074"/>
            <a:ext cx="3740800" cy="2645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32" name="Google Shape;632;p81"/>
          <p:cNvSpPr/>
          <p:nvPr/>
        </p:nvSpPr>
        <p:spPr>
          <a:xfrm>
            <a:off x="4562374" y="2777450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ROBOTICS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p81"/>
          <p:cNvSpPr/>
          <p:nvPr/>
        </p:nvSpPr>
        <p:spPr>
          <a:xfrm>
            <a:off x="6699525" y="2777775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HEALTHCARE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Google Shape;634;p81"/>
          <p:cNvSpPr/>
          <p:nvPr/>
        </p:nvSpPr>
        <p:spPr>
          <a:xfrm>
            <a:off x="4556878" y="3754275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CLIMATE TECH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81"/>
          <p:cNvSpPr/>
          <p:nvPr/>
        </p:nvSpPr>
        <p:spPr>
          <a:xfrm>
            <a:off x="6694029" y="3754600"/>
            <a:ext cx="1368900" cy="750300"/>
          </a:xfrm>
          <a:prstGeom prst="rect">
            <a:avLst/>
          </a:prstGeom>
          <a:solidFill>
            <a:srgbClr val="00FF00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CIVIC ACTION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6" name="Google Shape;636;p81" title="Screenshot 2026-10-24 at 8.39.0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774" y="1883025"/>
            <a:ext cx="2376550" cy="24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81"/>
          <p:cNvSpPr txBox="1"/>
          <p:nvPr/>
        </p:nvSpPr>
        <p:spPr>
          <a:xfrm>
            <a:off x="444900" y="4419875"/>
            <a:ext cx="256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</a:rPr>
              <a:t>tinyurl.com/myhackidea</a:t>
            </a:r>
            <a:endParaRPr sz="17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82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82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2"/>
          <p:cNvSpPr/>
          <p:nvPr/>
        </p:nvSpPr>
        <p:spPr>
          <a:xfrm>
            <a:off x="379509" y="2018350"/>
            <a:ext cx="65319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LUNCH TIME!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12:00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a man is sitting at a table eating a huge hamburger and french fries (Provided by Tenor)" id="645" name="Google Shape;64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925" y="488863"/>
            <a:ext cx="2141750" cy="3809275"/>
          </a:xfrm>
          <a:prstGeom prst="rect">
            <a:avLst/>
          </a:prstGeom>
          <a:solidFill>
            <a:srgbClr val="080B0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83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83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3"/>
          <p:cNvSpPr/>
          <p:nvPr/>
        </p:nvSpPr>
        <p:spPr>
          <a:xfrm>
            <a:off x="379509" y="2018350"/>
            <a:ext cx="65319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DINNER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05:00PM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a man is sitting at a table eating a huge hamburger and french fries (Provided by Tenor)" id="653" name="Google Shape;65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925" y="488863"/>
            <a:ext cx="2141750" cy="3809275"/>
          </a:xfrm>
          <a:prstGeom prst="rect">
            <a:avLst/>
          </a:prstGeom>
          <a:solidFill>
            <a:srgbClr val="080B0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84"/>
          <p:cNvPicPr preferRelativeResize="0"/>
          <p:nvPr/>
        </p:nvPicPr>
        <p:blipFill rotWithShape="1">
          <a:blip r:embed="rId3">
            <a:alphaModFix/>
          </a:blip>
          <a:srcRect b="0" l="0" r="0" t="9300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84"/>
          <p:cNvSpPr/>
          <p:nvPr/>
        </p:nvSpPr>
        <p:spPr>
          <a:xfrm>
            <a:off x="0" y="0"/>
            <a:ext cx="8572500" cy="5143500"/>
          </a:xfrm>
          <a:prstGeom prst="rect">
            <a:avLst/>
          </a:prstGeom>
          <a:solidFill>
            <a:srgbClr val="080B0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84"/>
          <p:cNvSpPr/>
          <p:nvPr/>
        </p:nvSpPr>
        <p:spPr>
          <a:xfrm>
            <a:off x="379509" y="2018350"/>
            <a:ext cx="65319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FINAL SUBMISSION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8PM</a:t>
            </a:r>
            <a:endParaRPr sz="57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